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7" r:id="rId2"/>
    <p:sldId id="258" r:id="rId3"/>
    <p:sldId id="259" r:id="rId4"/>
    <p:sldId id="260" r:id="rId5"/>
    <p:sldId id="269" r:id="rId6"/>
    <p:sldId id="261" r:id="rId7"/>
    <p:sldId id="262" r:id="rId8"/>
    <p:sldId id="270" r:id="rId9"/>
    <p:sldId id="271" r:id="rId10"/>
    <p:sldId id="263" r:id="rId11"/>
    <p:sldId id="282" r:id="rId12"/>
    <p:sldId id="272" r:id="rId13"/>
    <p:sldId id="292" r:id="rId14"/>
    <p:sldId id="276" r:id="rId15"/>
    <p:sldId id="301" r:id="rId16"/>
    <p:sldId id="277" r:id="rId17"/>
    <p:sldId id="302" r:id="rId18"/>
    <p:sldId id="303" r:id="rId19"/>
    <p:sldId id="278" r:id="rId20"/>
    <p:sldId id="308" r:id="rId21"/>
    <p:sldId id="304" r:id="rId22"/>
    <p:sldId id="307" r:id="rId23"/>
    <p:sldId id="279" r:id="rId24"/>
    <p:sldId id="305" r:id="rId25"/>
    <p:sldId id="306" r:id="rId26"/>
    <p:sldId id="298" r:id="rId27"/>
    <p:sldId id="299" r:id="rId28"/>
    <p:sldId id="280" r:id="rId29"/>
    <p:sldId id="300" r:id="rId30"/>
    <p:sldId id="273" r:id="rId31"/>
    <p:sldId id="274" r:id="rId32"/>
    <p:sldId id="275" r:id="rId33"/>
    <p:sldId id="309" r:id="rId34"/>
    <p:sldId id="310" r:id="rId35"/>
    <p:sldId id="312" r:id="rId36"/>
    <p:sldId id="286" r:id="rId37"/>
    <p:sldId id="283" r:id="rId38"/>
    <p:sldId id="285" r:id="rId39"/>
    <p:sldId id="267" r:id="rId40"/>
    <p:sldId id="289" r:id="rId41"/>
    <p:sldId id="288" r:id="rId42"/>
    <p:sldId id="268" r:id="rId43"/>
    <p:sldId id="291" r:id="rId44"/>
    <p:sldId id="290" r:id="rId45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97"/>
    <a:srgbClr val="A4D76B"/>
    <a:srgbClr val="B4DE86"/>
    <a:srgbClr val="2DA5FF"/>
    <a:srgbClr val="75C4FF"/>
    <a:srgbClr val="61BBFF"/>
    <a:srgbClr val="0594FF"/>
    <a:srgbClr val="CDEAFF"/>
    <a:srgbClr val="9BD4FF"/>
    <a:srgbClr val="FF3B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2" autoAdjust="0"/>
    <p:restoredTop sz="94660"/>
  </p:normalViewPr>
  <p:slideViewPr>
    <p:cSldViewPr>
      <p:cViewPr>
        <p:scale>
          <a:sx n="100" d="100"/>
          <a:sy n="100" d="100"/>
        </p:scale>
        <p:origin x="1914" y="2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Capobianco Lopes" userId="e2602793-81ee-4f40-ac4e-f7a7f9d1e175" providerId="ADAL" clId="{7F704396-5C0A-4773-8443-574AD5DF6845}"/>
    <pc:docChg chg="modSld">
      <pc:chgData name="Mauricio Capobianco Lopes" userId="e2602793-81ee-4f40-ac4e-f7a7f9d1e175" providerId="ADAL" clId="{7F704396-5C0A-4773-8443-574AD5DF6845}" dt="2020-02-27T15:12:44.677" v="4" actId="20577"/>
      <pc:docMkLst>
        <pc:docMk/>
      </pc:docMkLst>
      <pc:sldChg chg="modSp">
        <pc:chgData name="Mauricio Capobianco Lopes" userId="e2602793-81ee-4f40-ac4e-f7a7f9d1e175" providerId="ADAL" clId="{7F704396-5C0A-4773-8443-574AD5DF6845}" dt="2020-02-27T15:12:35.257" v="1" actId="20577"/>
        <pc:sldMkLst>
          <pc:docMk/>
          <pc:sldMk cId="2489010789" sldId="261"/>
        </pc:sldMkLst>
        <pc:spChg chg="mod">
          <ac:chgData name="Mauricio Capobianco Lopes" userId="e2602793-81ee-4f40-ac4e-f7a7f9d1e175" providerId="ADAL" clId="{7F704396-5C0A-4773-8443-574AD5DF6845}" dt="2020-02-27T15:12:35.257" v="1" actId="20577"/>
          <ac:spMkLst>
            <pc:docMk/>
            <pc:sldMk cId="2489010789" sldId="261"/>
            <ac:spMk id="3" creationId="{00000000-0000-0000-0000-000000000000}"/>
          </ac:spMkLst>
        </pc:spChg>
      </pc:sldChg>
      <pc:sldChg chg="modSp">
        <pc:chgData name="Mauricio Capobianco Lopes" userId="e2602793-81ee-4f40-ac4e-f7a7f9d1e175" providerId="ADAL" clId="{7F704396-5C0A-4773-8443-574AD5DF6845}" dt="2020-02-27T15:12:44.677" v="4" actId="20577"/>
        <pc:sldMkLst>
          <pc:docMk/>
          <pc:sldMk cId="1958979546" sldId="262"/>
        </pc:sldMkLst>
        <pc:spChg chg="mod">
          <ac:chgData name="Mauricio Capobianco Lopes" userId="e2602793-81ee-4f40-ac4e-f7a7f9d1e175" providerId="ADAL" clId="{7F704396-5C0A-4773-8443-574AD5DF6845}" dt="2020-02-27T15:12:44.677" v="4" actId="20577"/>
          <ac:spMkLst>
            <pc:docMk/>
            <pc:sldMk cId="1958979546" sldId="262"/>
            <ac:spMk id="3" creationId="{00000000-0000-0000-0000-000000000000}"/>
          </ac:spMkLst>
        </pc:spChg>
      </pc:sldChg>
    </pc:docChg>
  </pc:docChgLst>
  <pc:docChgLst>
    <pc:chgData name="Mauricio Capobianco Lopes" userId="e2602793-81ee-4f40-ac4e-f7a7f9d1e175" providerId="ADAL" clId="{5E4B7503-6885-43C1-8A95-77DFDBD689BD}"/>
    <pc:docChg chg="custSel modSld">
      <pc:chgData name="Mauricio Capobianco Lopes" userId="e2602793-81ee-4f40-ac4e-f7a7f9d1e175" providerId="ADAL" clId="{5E4B7503-6885-43C1-8A95-77DFDBD689BD}" dt="2019-11-21T21:38:28.451" v="70" actId="20577"/>
      <pc:docMkLst>
        <pc:docMk/>
      </pc:docMkLst>
      <pc:sldChg chg="modSp">
        <pc:chgData name="Mauricio Capobianco Lopes" userId="e2602793-81ee-4f40-ac4e-f7a7f9d1e175" providerId="ADAL" clId="{5E4B7503-6885-43C1-8A95-77DFDBD689BD}" dt="2019-11-21T21:38:28.451" v="70" actId="20577"/>
        <pc:sldMkLst>
          <pc:docMk/>
          <pc:sldMk cId="2007070856" sldId="264"/>
        </pc:sldMkLst>
        <pc:spChg chg="mod">
          <ac:chgData name="Mauricio Capobianco Lopes" userId="e2602793-81ee-4f40-ac4e-f7a7f9d1e175" providerId="ADAL" clId="{5E4B7503-6885-43C1-8A95-77DFDBD689BD}" dt="2019-11-21T21:38:28.451" v="70" actId="20577"/>
          <ac:spMkLst>
            <pc:docMk/>
            <pc:sldMk cId="2007070856" sldId="264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CB45E-76FC-42E1-8559-0E42129D489A}" type="datetimeFigureOut">
              <a:rPr lang="pt-BR" smtClean="0"/>
              <a:t>04/07/2026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8F834-1854-4F9A-91DD-DC0ACBCABE0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1163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8F834-1854-4F9A-91DD-DC0ACBCABE0A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601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3751E00-8267-4604-A477-06D690F3831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29600" cy="1143000"/>
          </a:xfrm>
        </p:spPr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pt-BR" dirty="0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680520"/>
          </a:xfrm>
        </p:spPr>
        <p:txBody>
          <a:bodyPr/>
          <a:lstStyle/>
          <a:p>
            <a:pPr lvl="0"/>
            <a:r>
              <a:rPr lang="pt-BR" dirty="0"/>
              <a:t>Clique para editar os estilos do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568E297-6CBE-4718-A55E-559A2615A1B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556A142-61B5-4E3D-90E3-37CCCA5B8200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446EF70-771F-4125-BD92-2CF85D34D26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3E55F65-09CC-47BE-B43C-09A283D2E9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802316F-EB17-4252-8A8C-611AED72FBAB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FB138E0-A9D7-4867-995F-585EB895710D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3CF3198-B843-4265-ABF0-65946D3BF37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0879FC-8726-479C-A2CE-57C987F54908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DBB5B2E-7B09-42BA-B78A-718198AF402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A41635-D202-4D10-8FA9-DA258B96F66E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1"/>
            <a:ext cx="8229600" cy="4277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pt-BR" dirty="0"/>
              <a:t>Clique para editar os estilos do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pt-BR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7504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/>
            </a:lvl1pPr>
          </a:lstStyle>
          <a:p>
            <a:fld id="{38F5D6D9-064D-480F-AE44-1D22C9D85F9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395536" y="1501775"/>
            <a:ext cx="8352928" cy="1470025"/>
          </a:xfrm>
        </p:spPr>
        <p:txBody>
          <a:bodyPr/>
          <a:lstStyle/>
          <a:p>
            <a:r>
              <a:rPr lang="pt-BR" dirty="0"/>
              <a:t>JOGO SIMULADOR DE DIREÇÃO VEICULAR EM REALIDADE VIRTUAL COM CONTROLE POR VOLANTE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lang="pt-BR" dirty="0"/>
              <a:t>Aluno: Gustavo Baroni Bruder</a:t>
            </a:r>
          </a:p>
          <a:p>
            <a:endParaRPr lang="pt-BR" dirty="0"/>
          </a:p>
          <a:p>
            <a:r>
              <a:rPr lang="pt-BR" dirty="0"/>
              <a:t>Orientador: Dalton Solano dos Reis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FC36BB-50CB-3381-8EBD-97A0FDCC2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51E00-8267-4604-A477-06D690F3831A}" type="slidenum">
              <a:rPr lang="pt-BR" smtClean="0"/>
              <a:pPr/>
              <a:t>1</a:t>
            </a:fld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Roteiro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t-BR" dirty="0"/>
              <a:t>Introdução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/>
              <a:t>Objetivos</a:t>
            </a:r>
          </a:p>
          <a:p>
            <a:pPr marL="914400" lvl="1" indent="-514350">
              <a:buFont typeface="+mj-lt"/>
              <a:buAutoNum type="arabicPeriod"/>
            </a:pPr>
            <a:r>
              <a:rPr lang="pt-BR" dirty="0"/>
              <a:t>Principal</a:t>
            </a:r>
          </a:p>
          <a:p>
            <a:pPr marL="914400" lvl="1" indent="-514350">
              <a:buFont typeface="+mj-lt"/>
              <a:buAutoNum type="arabicPeriod"/>
            </a:pPr>
            <a:r>
              <a:rPr lang="pt-BR" dirty="0"/>
              <a:t>Específicos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/>
              <a:t>Fundamentação Teórica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/>
              <a:t>Trabalhos Correlatos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/>
              <a:t>Requisitos</a:t>
            </a:r>
          </a:p>
          <a:p>
            <a:pPr marL="914400" lvl="1" indent="-514350">
              <a:buFont typeface="+mj-lt"/>
              <a:buAutoNum type="arabicPeriod"/>
            </a:pPr>
            <a:r>
              <a:rPr lang="pt-BR" dirty="0"/>
              <a:t>Funcionais</a:t>
            </a:r>
          </a:p>
          <a:p>
            <a:pPr marL="914400" lvl="1" indent="-514350">
              <a:buFont typeface="+mj-lt"/>
              <a:buAutoNum type="arabicPeriod"/>
            </a:pPr>
            <a:r>
              <a:rPr lang="pt-BR" dirty="0"/>
              <a:t>Não Funcionais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/>
              <a:t>Especificação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/>
              <a:t>Implementação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/>
              <a:t>Análise dos Resultados</a:t>
            </a:r>
          </a:p>
          <a:p>
            <a:pPr marL="514350" indent="-514350">
              <a:buFont typeface="+mj-lt"/>
              <a:buAutoNum type="arabicPeriod"/>
            </a:pPr>
            <a:r>
              <a:rPr lang="pt-BR" dirty="0"/>
              <a:t>Conclusões e Sugestões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A414370-A159-DC65-48BE-DBB4CB1C7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299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just"/>
            <a:r>
              <a:rPr lang="pt-BR" dirty="0"/>
              <a:t>Trânsito urbano envolve riscos frequentes</a:t>
            </a:r>
          </a:p>
          <a:p>
            <a:pPr algn="just"/>
            <a:r>
              <a:rPr lang="pt-BR" dirty="0"/>
              <a:t>Aproximadamente 1,3 milhão de pessoas morrem no trânsito anualmente (OMS, 2020)</a:t>
            </a:r>
          </a:p>
          <a:p>
            <a:pPr algn="just"/>
            <a:r>
              <a:rPr lang="pt-BR" dirty="0"/>
              <a:t>20% dos acidentes em áreas urbanas envolvem erros de manobra, estacionamento inadequado, falta de controle em baixas velocidades e desatenção do condutor (ONSV, 2022)</a:t>
            </a:r>
          </a:p>
          <a:p>
            <a:pPr algn="just"/>
            <a:r>
              <a:rPr lang="pt-BR" dirty="0"/>
              <a:t>Ferramentas capazes de conscientizar e educar motoristas sem exposição a riscos reais</a:t>
            </a:r>
            <a:endParaRPr lang="en-US" dirty="0"/>
          </a:p>
          <a:p>
            <a:pPr algn="just"/>
            <a:endParaRPr lang="pt-BR" dirty="0"/>
          </a:p>
          <a:p>
            <a:pPr algn="just"/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2ADE7B-FAED-4000-B336-310051C66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9194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412776"/>
            <a:ext cx="8003232" cy="4680520"/>
          </a:xfrm>
        </p:spPr>
        <p:txBody>
          <a:bodyPr>
            <a:normAutofit/>
          </a:bodyPr>
          <a:lstStyle/>
          <a:p>
            <a:pPr algn="just"/>
            <a:r>
              <a:rPr lang="pt-BR" dirty="0"/>
              <a:t>Objetivo principal:</a:t>
            </a:r>
          </a:p>
          <a:p>
            <a:pPr lvl="1" algn="just"/>
            <a:r>
              <a:rPr lang="pt-BR" dirty="0"/>
              <a:t>Desenvolver um jogo simulador de direção veicular em realidade virtual que represente o contexto urbano, permitindo ao jogador praticar manobras e explorar áreas de estacionamento com suporte a volante físico</a:t>
            </a:r>
          </a:p>
          <a:p>
            <a:pPr algn="just"/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8C38CEB-E6C7-FA2E-4ED8-091177B82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6955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0BF6-6134-03B7-B4B7-629AE9E4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A65D5-9F68-6573-ED51-91BB783EC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654A4B-5C82-EB09-86C2-E7DD9BB56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/>
            <a:r>
              <a:rPr lang="pt-BR" dirty="0"/>
              <a:t>Objetivos específicos:</a:t>
            </a:r>
          </a:p>
          <a:p>
            <a:pPr lvl="1" algn="just"/>
            <a:r>
              <a:rPr lang="pt-BR" dirty="0"/>
              <a:t>Realizar uma representação tridimensional de áreas urbanas e de estacionamento</a:t>
            </a:r>
          </a:p>
          <a:p>
            <a:pPr lvl="1" algn="just"/>
            <a:r>
              <a:rPr lang="pt-BR" dirty="0"/>
              <a:t>Implementar a mecânica de direção e estacionamento com suporte a volante compatível com o jogo</a:t>
            </a:r>
          </a:p>
          <a:p>
            <a:pPr lvl="1" algn="just"/>
            <a:r>
              <a:rPr lang="pt-BR" dirty="0"/>
              <a:t>Desenvolver um sistema de desafios ao jogador envolvendo pedestres, semáforos, limites de velocidade, vagas de estacionamento, entre outros</a:t>
            </a:r>
          </a:p>
          <a:p>
            <a:pPr lvl="1" algn="just"/>
            <a:r>
              <a:rPr lang="pt-BR" dirty="0"/>
              <a:t>Realizar testes com usuários para avaliar aspectos de usabilidade, imersão e controle do simulador</a:t>
            </a:r>
          </a:p>
          <a:p>
            <a:pPr lvl="1" algn="just"/>
            <a:r>
              <a:rPr lang="pt-BR" dirty="0"/>
              <a:t>Analisar as possíveis aplicações do jogo em contextos como treinamento de motoristas e simulações urbanas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218403-2594-DF36-A564-ECA46C60B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1460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Realidade Virtual</a:t>
            </a:r>
          </a:p>
          <a:p>
            <a:pPr lvl="1"/>
            <a:r>
              <a:rPr lang="pt-BR" dirty="0"/>
              <a:t>Interação ambientes tridimensionais simulados</a:t>
            </a:r>
          </a:p>
          <a:p>
            <a:pPr lvl="1"/>
            <a:r>
              <a:rPr lang="pt-BR" dirty="0"/>
              <a:t>Fidelidade gráfica, responsividade da interação e coerência sensorial</a:t>
            </a:r>
          </a:p>
          <a:p>
            <a:r>
              <a:rPr lang="pt-BR" dirty="0"/>
              <a:t>Simuladores de direção</a:t>
            </a:r>
          </a:p>
          <a:p>
            <a:pPr lvl="1"/>
            <a:r>
              <a:rPr lang="pt-BR" dirty="0"/>
              <a:t>Níveis de realismo e fidelidade</a:t>
            </a:r>
          </a:p>
          <a:p>
            <a:pPr lvl="1"/>
            <a:r>
              <a:rPr lang="pt-BR" dirty="0"/>
              <a:t>Replicar situações perigosas sem risco</a:t>
            </a:r>
          </a:p>
          <a:p>
            <a:r>
              <a:rPr lang="pt-BR" dirty="0"/>
              <a:t>Dispositivos de interação e volantes</a:t>
            </a:r>
          </a:p>
          <a:p>
            <a:pPr lvl="1"/>
            <a:r>
              <a:rPr lang="pt-BR" dirty="0"/>
              <a:t>Replicar comportamentos mecânicos</a:t>
            </a:r>
          </a:p>
          <a:p>
            <a:pPr lvl="1"/>
            <a:r>
              <a:rPr lang="pt-BR" dirty="0"/>
              <a:t>Feedback tátil</a:t>
            </a:r>
          </a:p>
          <a:p>
            <a:pPr lvl="1"/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208568-0DAC-DE42-4AA2-A81590554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9010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Trabalhos Correlatos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Kuhn (2019)</a:t>
            </a:r>
          </a:p>
          <a:p>
            <a:pPr lvl="1"/>
            <a:r>
              <a:rPr lang="pt-BR" dirty="0"/>
              <a:t>Desenvolver um simulador automotivo em realidade virtual, voltado à preparação de pilotos para o Baja</a:t>
            </a:r>
          </a:p>
          <a:p>
            <a:pPr lvl="1"/>
            <a:r>
              <a:rPr lang="pt-BR" dirty="0"/>
              <a:t>Simulação de direção off-</a:t>
            </a:r>
            <a:r>
              <a:rPr lang="pt-BR" dirty="0" err="1"/>
              <a:t>road</a:t>
            </a:r>
            <a:r>
              <a:rPr lang="pt-BR" dirty="0"/>
              <a:t>, ambiente imersivo em realidade virtual e interação com volante</a:t>
            </a:r>
          </a:p>
          <a:p>
            <a:pPr lvl="1"/>
            <a:r>
              <a:rPr lang="en-US" dirty="0"/>
              <a:t>VR Box, volante X360 e </a:t>
            </a:r>
            <a:r>
              <a:rPr lang="pt-BR" dirty="0"/>
              <a:t>Unity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A822E4-BC63-6DB0-B7E5-48ADB4DFE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8979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05493-FD44-7F81-EAD4-8FF4A2821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41640-5B9F-828E-3878-8EB17D056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Trabalhos Correlatos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6E230E-599C-583A-4DD6-973EB01D8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Fonseca (2022)</a:t>
            </a:r>
          </a:p>
          <a:p>
            <a:pPr lvl="1"/>
            <a:r>
              <a:rPr lang="pt-BR" dirty="0"/>
              <a:t>Implementar um simulador 3D de empilhadeira </a:t>
            </a:r>
            <a:r>
              <a:rPr lang="pt-BR" dirty="0" err="1"/>
              <a:t>Reach</a:t>
            </a:r>
            <a:r>
              <a:rPr lang="pt-BR" dirty="0"/>
              <a:t> </a:t>
            </a:r>
            <a:r>
              <a:rPr lang="pt-BR" dirty="0" err="1"/>
              <a:t>Stacker</a:t>
            </a:r>
            <a:r>
              <a:rPr lang="pt-BR" dirty="0"/>
              <a:t> com fases e tarefas para treinamento e reciclagem de operadores</a:t>
            </a:r>
          </a:p>
          <a:p>
            <a:pPr lvl="1"/>
            <a:r>
              <a:rPr lang="pt-BR" dirty="0"/>
              <a:t>Cockpit com volante e pedais, interface com indicadores e cronômetro e feedback das tarefas realizadas</a:t>
            </a:r>
          </a:p>
          <a:p>
            <a:pPr lvl="1"/>
            <a:r>
              <a:rPr lang="pt-BR" dirty="0"/>
              <a:t>Unity, volante e pedal Logitech G29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87A24F-80D4-0D97-3242-BEFBD75AD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1289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73CB1-023A-8265-41C4-D078B63A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D333AA-1C3B-FDF8-CB66-89A93EA0F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Trabalhos Correlatos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DE8776-272F-F537-B47F-00BFC68B8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Gervasio (2021)</a:t>
            </a:r>
          </a:p>
          <a:p>
            <a:pPr lvl="1"/>
            <a:r>
              <a:rPr lang="pt-BR" dirty="0"/>
              <a:t>Criar um simulador de direção para ensino prático em ambiente virtual controlado, especialmente durante a pandemia de COVID-19</a:t>
            </a:r>
          </a:p>
          <a:p>
            <a:pPr lvl="1"/>
            <a:r>
              <a:rPr lang="pt-BR" dirty="0"/>
              <a:t>Cenários diversos (urbano, suburbano e rural) com elementos básicos de trânsito, carros autônomos com lógica de tráfego, feedback de movimentação com motores e sensores</a:t>
            </a:r>
          </a:p>
          <a:p>
            <a:pPr lvl="1"/>
            <a:r>
              <a:rPr lang="pt-BR" dirty="0"/>
              <a:t>Unreal </a:t>
            </a:r>
            <a:r>
              <a:rPr lang="pt-BR" dirty="0" err="1"/>
              <a:t>Engine</a:t>
            </a:r>
            <a:r>
              <a:rPr lang="pt-BR" dirty="0"/>
              <a:t>, Arduino Mega 2560, volante, pedais e câmbio Logitech e Módulo BTS7960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AA8B10A-1AF9-96BD-5BF4-C228ADDB0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0251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Requisitos Funcionais</a:t>
            </a:r>
          </a:p>
        </p:txBody>
      </p:sp>
      <p:graphicFrame>
        <p:nvGraphicFramePr>
          <p:cNvPr id="12" name="Espaço Reservado para Conteúdo 3">
            <a:extLst>
              <a:ext uri="{FF2B5EF4-FFF2-40B4-BE49-F238E27FC236}">
                <a16:creationId xmlns:a16="http://schemas.microsoft.com/office/drawing/2014/main" id="{DB328E8A-9CC2-97D5-6C67-C4C7BD737D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3509302"/>
              </p:ext>
            </p:extLst>
          </p:nvPr>
        </p:nvGraphicFramePr>
        <p:xfrm>
          <a:off x="457200" y="1412875"/>
          <a:ext cx="8251884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456">
                  <a:extLst>
                    <a:ext uri="{9D8B030D-6E8A-4147-A177-3AD203B41FA5}">
                      <a16:colId xmlns:a16="http://schemas.microsoft.com/office/drawing/2014/main" val="3514356728"/>
                    </a:ext>
                  </a:extLst>
                </a:gridCol>
                <a:gridCol w="7233428">
                  <a:extLst>
                    <a:ext uri="{9D8B030D-6E8A-4147-A177-3AD203B41FA5}">
                      <a16:colId xmlns:a16="http://schemas.microsoft.com/office/drawing/2014/main" val="30548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8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RF</a:t>
                      </a:r>
                      <a:endParaRPr lang="pt-BR" dirty="0"/>
                    </a:p>
                  </a:txBody>
                  <a:tcPr>
                    <a:solidFill>
                      <a:srgbClr val="0057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 simulador deve 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[…]</a:t>
                      </a:r>
                      <a:endParaRPr lang="pt-BR" dirty="0"/>
                    </a:p>
                  </a:txBody>
                  <a:tcPr>
                    <a:solidFill>
                      <a:srgbClr val="0057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67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RF01</a:t>
                      </a:r>
                      <a:endParaRPr lang="pt-BR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permitir a seleção do carro jogável.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575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RF02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permitir a seleção entre fases de trânsito, estacionamento e corrida.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15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RF03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sortear aleatoriamente a vaga onde o usuário deverá estacionar.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441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RF04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gerar carros estacionados aleatoriamente nas demais vagas do ambiente.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RF05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sincronizar o volante virtual com o volante físico.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21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RF06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ler individualmente pedais de embreagem, freio e acelerador.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829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RF07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apresentar um cronômetro durante a execução da fase.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302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RF08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apresentar o número de colisões realizadas pelo usuário.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599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RF09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apresentar o número de infrações de trânsito realizadas pelo usuário.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48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apresentar o velocímetro e conta-giros.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93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RF11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apresentar o espelho retrovisor central.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5933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RF12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disponibilizar um sistema de cinto de segurança (colocar e retirar).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0813812"/>
                  </a:ext>
                </a:extLst>
              </a:tr>
            </a:tbl>
          </a:graphicData>
        </a:graphic>
      </p:graphicFrame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C5B168E-D83B-31A0-CDC2-BF94B40CD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7644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B5C6C-3E53-AEEF-7BFD-5B25B54E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3AF126-7E08-CB30-F091-8CFA4AE16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Requisitos Funcionais</a:t>
            </a:r>
          </a:p>
        </p:txBody>
      </p:sp>
      <p:graphicFrame>
        <p:nvGraphicFramePr>
          <p:cNvPr id="12" name="Espaço Reservado para Conteúdo 3">
            <a:extLst>
              <a:ext uri="{FF2B5EF4-FFF2-40B4-BE49-F238E27FC236}">
                <a16:creationId xmlns:a16="http://schemas.microsoft.com/office/drawing/2014/main" id="{E481CB6B-CF8A-2A38-DD01-57606EB11D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6329420"/>
              </p:ext>
            </p:extLst>
          </p:nvPr>
        </p:nvGraphicFramePr>
        <p:xfrm>
          <a:off x="457200" y="1412875"/>
          <a:ext cx="8251884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456">
                  <a:extLst>
                    <a:ext uri="{9D8B030D-6E8A-4147-A177-3AD203B41FA5}">
                      <a16:colId xmlns:a16="http://schemas.microsoft.com/office/drawing/2014/main" val="3514356728"/>
                    </a:ext>
                  </a:extLst>
                </a:gridCol>
                <a:gridCol w="7233428">
                  <a:extLst>
                    <a:ext uri="{9D8B030D-6E8A-4147-A177-3AD203B41FA5}">
                      <a16:colId xmlns:a16="http://schemas.microsoft.com/office/drawing/2014/main" val="30548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8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RF</a:t>
                      </a:r>
                      <a:endParaRPr lang="pt-BR" dirty="0"/>
                    </a:p>
                  </a:txBody>
                  <a:tcPr>
                    <a:solidFill>
                      <a:srgbClr val="0057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 simulador deve 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[…]</a:t>
                      </a:r>
                      <a:endParaRPr lang="pt-BR" dirty="0"/>
                    </a:p>
                  </a:txBody>
                  <a:tcPr>
                    <a:solidFill>
                      <a:srgbClr val="0057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67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RF13</a:t>
                      </a:r>
                      <a:endParaRPr lang="pt-BR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disponibilizar um sistema de motor (ligar e desligar).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575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RF14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disponibilizar um sistema de freio de mão (puxado/solto).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15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RF15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disponibilizar um sistema de marchas (R, N, 1 a 5).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441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disponibilizar um sistema de faróis.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RF17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disponibilizar um sistema luz indicadora de direção (setas).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21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RF18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disponibilizar modos de câmera em primeira e terceira pessoa.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829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RF19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permitir a movimentação da câmera (POV) pelo DPAD do volante.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302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RF20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permitir controlar o período do dia e a intensidade da chuva.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599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RF21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aplicar feedback tátil no volante.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48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apresentar notificações de ações realizadas pelo usuário.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93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RF23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contabilizar o estacionamento corretamente quando o usuário desligar o veículo dentro da vaga correta.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5933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RF24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disponibilizar ao jogador o mapa de controles.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0813812"/>
                  </a:ext>
                </a:extLst>
              </a:tr>
            </a:tbl>
          </a:graphicData>
        </a:graphic>
      </p:graphicFrame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7FF4CDB-8A7A-11AF-4007-8D77028CF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559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E9A65-9267-E9A4-C8E5-6EDBF5D30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CCB01-BF8B-0935-865D-390E30349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Requisitos Não Funcionais</a:t>
            </a:r>
          </a:p>
        </p:txBody>
      </p:sp>
      <p:graphicFrame>
        <p:nvGraphicFramePr>
          <p:cNvPr id="5" name="Espaço Reservado para Conteúdo 3">
            <a:extLst>
              <a:ext uri="{FF2B5EF4-FFF2-40B4-BE49-F238E27FC236}">
                <a16:creationId xmlns:a16="http://schemas.microsoft.com/office/drawing/2014/main" id="{3C7F95CC-E249-2B46-4F06-FF3FD7960A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3688523"/>
              </p:ext>
            </p:extLst>
          </p:nvPr>
        </p:nvGraphicFramePr>
        <p:xfrm>
          <a:off x="457200" y="1412875"/>
          <a:ext cx="8251884" cy="377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456">
                  <a:extLst>
                    <a:ext uri="{9D8B030D-6E8A-4147-A177-3AD203B41FA5}">
                      <a16:colId xmlns:a16="http://schemas.microsoft.com/office/drawing/2014/main" val="3514356728"/>
                    </a:ext>
                  </a:extLst>
                </a:gridCol>
                <a:gridCol w="7233428">
                  <a:extLst>
                    <a:ext uri="{9D8B030D-6E8A-4147-A177-3AD203B41FA5}">
                      <a16:colId xmlns:a16="http://schemas.microsoft.com/office/drawing/2014/main" val="30548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RF</a:t>
                      </a:r>
                    </a:p>
                  </a:txBody>
                  <a:tcPr>
                    <a:solidFill>
                      <a:srgbClr val="0057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O simulador deve [...]</a:t>
                      </a:r>
                    </a:p>
                  </a:txBody>
                  <a:tcPr>
                    <a:solidFill>
                      <a:srgbClr val="0057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67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RNF01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ser desenvolvido utilizando Unity.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575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RNF02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ser desenvolvido na linguagem de programação C#.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15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RNF03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utilizar o controle Logitech G29 (volante e pedais) como dispositivo de entrada.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441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RNF04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executar em computadores.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RNF05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apresentar frame rate estável para garantir imersão e evitar desconforto.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21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RNF06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representar visualmente áreas urbanas por meio de modelagem 3D.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829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RNF07</a:t>
                      </a:r>
                      <a:endParaRPr lang="en-US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disponibilizar uma experiência interativa, incluindo elementos de física e interação.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302264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6234C98-FF66-42EC-8879-12FEE579C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9824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78A63-D6F1-A5AF-9871-79F3FCAB8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65CB35-4E4E-471F-86F7-869A80AEE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9B69334-7485-129D-D151-F65A00C3CCFF}"/>
              </a:ext>
            </a:extLst>
          </p:cNvPr>
          <p:cNvSpPr/>
          <p:nvPr/>
        </p:nvSpPr>
        <p:spPr>
          <a:xfrm>
            <a:off x="251520" y="2780928"/>
            <a:ext cx="2736304" cy="2736304"/>
          </a:xfrm>
          <a:prstGeom prst="roundRect">
            <a:avLst>
              <a:gd name="adj" fmla="val 4756"/>
            </a:avLst>
          </a:prstGeom>
          <a:solidFill>
            <a:srgbClr val="B4DE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b="1" dirty="0"/>
              <a:t>Fases de</a:t>
            </a:r>
          </a:p>
          <a:p>
            <a:pPr algn="ctr"/>
            <a:r>
              <a:rPr lang="pt-BR" b="1" dirty="0"/>
              <a:t>Trânsito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EAF39DB-25F0-8503-B421-0FB4130DB7A0}"/>
              </a:ext>
            </a:extLst>
          </p:cNvPr>
          <p:cNvSpPr/>
          <p:nvPr/>
        </p:nvSpPr>
        <p:spPr>
          <a:xfrm>
            <a:off x="3203848" y="2780928"/>
            <a:ext cx="2736304" cy="3600400"/>
          </a:xfrm>
          <a:prstGeom prst="roundRect">
            <a:avLst>
              <a:gd name="adj" fmla="val 4756"/>
            </a:avLst>
          </a:prstGeom>
          <a:solidFill>
            <a:srgbClr val="FFD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b="1" dirty="0"/>
              <a:t>Fases de Estacionamento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C9BDD1A-5050-339E-6BC7-22837304910A}"/>
              </a:ext>
            </a:extLst>
          </p:cNvPr>
          <p:cNvSpPr/>
          <p:nvPr/>
        </p:nvSpPr>
        <p:spPr>
          <a:xfrm>
            <a:off x="6156176" y="2780928"/>
            <a:ext cx="2736304" cy="2736304"/>
          </a:xfrm>
          <a:prstGeom prst="roundRect">
            <a:avLst>
              <a:gd name="adj" fmla="val 4756"/>
            </a:avLst>
          </a:prstGeom>
          <a:solidFill>
            <a:srgbClr val="FF85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b="1" dirty="0"/>
              <a:t>Fases de</a:t>
            </a:r>
          </a:p>
          <a:p>
            <a:pPr algn="ctr"/>
            <a:r>
              <a:rPr lang="pt-BR" b="1" dirty="0"/>
              <a:t>Corrida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822B5B2-26E9-9A89-FEEC-7CF85E936221}"/>
              </a:ext>
            </a:extLst>
          </p:cNvPr>
          <p:cNvSpPr/>
          <p:nvPr/>
        </p:nvSpPr>
        <p:spPr>
          <a:xfrm>
            <a:off x="467544" y="3573016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Fase de Trânsito 1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19BBC696-1A8D-7F0C-DF44-DC593E9154E6}"/>
              </a:ext>
            </a:extLst>
          </p:cNvPr>
          <p:cNvSpPr/>
          <p:nvPr/>
        </p:nvSpPr>
        <p:spPr>
          <a:xfrm>
            <a:off x="469403" y="4488869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Fase de Trânsito 2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E9EE8255-DB0C-D9BE-BD0F-1C89469198F0}"/>
              </a:ext>
            </a:extLst>
          </p:cNvPr>
          <p:cNvSpPr/>
          <p:nvPr/>
        </p:nvSpPr>
        <p:spPr>
          <a:xfrm>
            <a:off x="3419872" y="3573016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Fase de Estacionamento 1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B281B0C1-DC62-5D76-F43B-7E4754978118}"/>
              </a:ext>
            </a:extLst>
          </p:cNvPr>
          <p:cNvSpPr/>
          <p:nvPr/>
        </p:nvSpPr>
        <p:spPr>
          <a:xfrm>
            <a:off x="3419872" y="4488869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Fase de Estacionamento 2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B2CD8E6-CC52-1566-6E62-7CD00CA52FEC}"/>
              </a:ext>
            </a:extLst>
          </p:cNvPr>
          <p:cNvSpPr/>
          <p:nvPr/>
        </p:nvSpPr>
        <p:spPr>
          <a:xfrm>
            <a:off x="3419872" y="5404722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Fase de Estacionamento 3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7023D5ED-775C-BD0C-EEAB-34307F3BA252}"/>
              </a:ext>
            </a:extLst>
          </p:cNvPr>
          <p:cNvSpPr/>
          <p:nvPr/>
        </p:nvSpPr>
        <p:spPr>
          <a:xfrm>
            <a:off x="6372200" y="3573016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3B3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Fase de Corrida 1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377DEBE-FE2E-C9E2-51EE-6873D6E5F5D5}"/>
              </a:ext>
            </a:extLst>
          </p:cNvPr>
          <p:cNvSpPr/>
          <p:nvPr/>
        </p:nvSpPr>
        <p:spPr>
          <a:xfrm>
            <a:off x="6374059" y="4488869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3B3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Fase de Corrida 2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DEC2C89C-DD27-3F0B-4E55-67C53D50A08F}"/>
              </a:ext>
            </a:extLst>
          </p:cNvPr>
          <p:cNvSpPr/>
          <p:nvPr/>
        </p:nvSpPr>
        <p:spPr>
          <a:xfrm>
            <a:off x="3419872" y="1331640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Menu Principal</a:t>
            </a:r>
          </a:p>
        </p:txBody>
      </p: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0F4E214-E365-E3BE-3BF0-08A88DDA0BDA}"/>
              </a:ext>
            </a:extLst>
          </p:cNvPr>
          <p:cNvCxnSpPr>
            <a:stCxn id="14" idx="2"/>
            <a:endCxn id="4" idx="0"/>
          </p:cNvCxnSpPr>
          <p:nvPr/>
        </p:nvCxnSpPr>
        <p:spPr>
          <a:xfrm>
            <a:off x="4572000" y="2123728"/>
            <a:ext cx="0" cy="657200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: Angulado 21">
            <a:extLst>
              <a:ext uri="{FF2B5EF4-FFF2-40B4-BE49-F238E27FC236}">
                <a16:creationId xmlns:a16="http://schemas.microsoft.com/office/drawing/2014/main" id="{098F2638-2585-389B-1DFB-CECA4A07EA26}"/>
              </a:ext>
            </a:extLst>
          </p:cNvPr>
          <p:cNvCxnSpPr>
            <a:stCxn id="14" idx="3"/>
            <a:endCxn id="6" idx="0"/>
          </p:cNvCxnSpPr>
          <p:nvPr/>
        </p:nvCxnSpPr>
        <p:spPr>
          <a:xfrm>
            <a:off x="5724128" y="1727684"/>
            <a:ext cx="1800200" cy="1053244"/>
          </a:xfrm>
          <a:prstGeom prst="bentConnector2">
            <a:avLst/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: Angulado 25">
            <a:extLst>
              <a:ext uri="{FF2B5EF4-FFF2-40B4-BE49-F238E27FC236}">
                <a16:creationId xmlns:a16="http://schemas.microsoft.com/office/drawing/2014/main" id="{19AF1F12-7E39-93DF-0474-642545E27178}"/>
              </a:ext>
            </a:extLst>
          </p:cNvPr>
          <p:cNvCxnSpPr>
            <a:stCxn id="14" idx="1"/>
            <a:endCxn id="3" idx="0"/>
          </p:cNvCxnSpPr>
          <p:nvPr/>
        </p:nvCxnSpPr>
        <p:spPr>
          <a:xfrm rot="10800000" flipV="1">
            <a:off x="1619672" y="1727684"/>
            <a:ext cx="1800200" cy="1053244"/>
          </a:xfrm>
          <a:prstGeom prst="bentConnector2">
            <a:avLst/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Espaço Reservado para Número de Slide 28">
            <a:extLst>
              <a:ext uri="{FF2B5EF4-FFF2-40B4-BE49-F238E27FC236}">
                <a16:creationId xmlns:a16="http://schemas.microsoft.com/office/drawing/2014/main" id="{D4106848-14F5-B219-0D58-63C8C050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3086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6923C-7808-40FE-9B72-3AA6FD70A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94FCB-2A9B-3DA5-EA11-3FAE8FA91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8AF10C8-F901-7F57-0916-0C30C3D28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Tela menu principal</a:t>
            </a:r>
          </a:p>
          <a:p>
            <a:pPr lvl="1"/>
            <a:r>
              <a:rPr lang="pt-BR" dirty="0" err="1"/>
              <a:t>Seleç</a:t>
            </a:r>
            <a:r>
              <a:rPr lang="en-US" dirty="0" err="1"/>
              <a:t>ão</a:t>
            </a:r>
            <a:r>
              <a:rPr lang="en-US" dirty="0"/>
              <a:t> do </a:t>
            </a:r>
            <a:r>
              <a:rPr lang="en-US" dirty="0" err="1"/>
              <a:t>carro</a:t>
            </a:r>
            <a:endParaRPr lang="en-US" dirty="0"/>
          </a:p>
          <a:p>
            <a:pPr lvl="1"/>
            <a:r>
              <a:rPr lang="pt-BR" dirty="0" err="1"/>
              <a:t>Seleç</a:t>
            </a:r>
            <a:r>
              <a:rPr lang="en-US" dirty="0" err="1"/>
              <a:t>ão</a:t>
            </a:r>
            <a:r>
              <a:rPr lang="en-US" dirty="0"/>
              <a:t> da </a:t>
            </a:r>
            <a:r>
              <a:rPr lang="en-US" dirty="0" err="1"/>
              <a:t>fase</a:t>
            </a:r>
            <a:endParaRPr lang="en-US" dirty="0"/>
          </a:p>
          <a:p>
            <a:pPr lvl="2"/>
            <a:r>
              <a:rPr lang="pt-BR" dirty="0"/>
              <a:t>Trânsito</a:t>
            </a:r>
          </a:p>
          <a:p>
            <a:pPr lvl="2"/>
            <a:r>
              <a:rPr lang="pt-BR" dirty="0"/>
              <a:t>Estacionamento</a:t>
            </a:r>
          </a:p>
          <a:p>
            <a:pPr lvl="2"/>
            <a:r>
              <a:rPr lang="pt-BR" dirty="0"/>
              <a:t>Corrida</a:t>
            </a:r>
          </a:p>
          <a:p>
            <a:pPr lvl="1"/>
            <a:r>
              <a:rPr lang="pt-BR" dirty="0"/>
              <a:t>Mapa de controles e </a:t>
            </a:r>
            <a:r>
              <a:rPr lang="pt-BR" dirty="0" err="1"/>
              <a:t>bot</a:t>
            </a:r>
            <a:r>
              <a:rPr lang="en-US" dirty="0" err="1"/>
              <a:t>ões</a:t>
            </a:r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478A57-2D7E-345D-A554-99D94D896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7062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AE8CA-6771-7217-137A-0381AD702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B617E-6FD0-56F2-638A-113BC66A4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672C62-57C6-BD5B-A57C-DE5EB0667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Tela menu principal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C654211-7E58-7C8A-37DE-9465B6072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15</a:t>
            </a:fld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73604DE-13F5-C1E3-F4C7-CBDC4FC9AB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86" y="2060848"/>
            <a:ext cx="7836716" cy="3629852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</p:spTree>
    <p:extLst>
      <p:ext uri="{BB962C8B-B14F-4D97-AF65-F5344CB8AC3E}">
        <p14:creationId xmlns:p14="http://schemas.microsoft.com/office/powerpoint/2010/main" val="2207732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E57DF-DC29-47F2-9895-3A71784E4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EF922C-8CB9-BBEC-1D0E-CE2AA631B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4E36A5-3429-E838-854D-C16B21104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Fases</a:t>
            </a:r>
            <a:r>
              <a:rPr lang="en-US" dirty="0"/>
              <a:t> de </a:t>
            </a:r>
            <a:r>
              <a:rPr lang="en-US" dirty="0" err="1"/>
              <a:t>trânsito</a:t>
            </a:r>
            <a:endParaRPr lang="en-US" dirty="0"/>
          </a:p>
          <a:p>
            <a:pPr lvl="1"/>
            <a:r>
              <a:rPr lang="pt-BR" dirty="0"/>
              <a:t>Semáforos</a:t>
            </a:r>
          </a:p>
          <a:p>
            <a:pPr lvl="1"/>
            <a:r>
              <a:rPr lang="pt-BR" dirty="0"/>
              <a:t>Pedestres</a:t>
            </a:r>
          </a:p>
          <a:p>
            <a:pPr lvl="1"/>
            <a:r>
              <a:rPr lang="pt-BR" dirty="0"/>
              <a:t>Limites de velocidade (40 km</a:t>
            </a:r>
            <a:r>
              <a:rPr lang="en-US" dirty="0"/>
              <a:t>/h</a:t>
            </a:r>
            <a:r>
              <a:rPr lang="pt-BR" dirty="0"/>
              <a:t>)</a:t>
            </a:r>
          </a:p>
          <a:p>
            <a:pPr lvl="1"/>
            <a:r>
              <a:rPr lang="pt-BR" dirty="0"/>
              <a:t>Sinalização viária</a:t>
            </a:r>
          </a:p>
          <a:p>
            <a:pPr lvl="1"/>
            <a:r>
              <a:rPr lang="pt-BR" dirty="0"/>
              <a:t>Luz indicadora de direção (setas)</a:t>
            </a:r>
          </a:p>
          <a:p>
            <a:pPr lvl="1"/>
            <a:r>
              <a:rPr lang="pt-BR" dirty="0"/>
              <a:t>Infrações de trânsito</a:t>
            </a:r>
          </a:p>
          <a:p>
            <a:pPr lvl="2"/>
            <a:r>
              <a:rPr lang="pt-BR" dirty="0"/>
              <a:t>Média – 4 pontos</a:t>
            </a:r>
          </a:p>
          <a:p>
            <a:pPr lvl="2"/>
            <a:r>
              <a:rPr lang="pt-BR" dirty="0"/>
              <a:t>Grave – 5 pontos</a:t>
            </a:r>
          </a:p>
          <a:p>
            <a:pPr lvl="2"/>
            <a:r>
              <a:rPr lang="pt-BR" dirty="0"/>
              <a:t>Gravíssima – 7 pontos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7E236E1-60F3-FA74-E91C-625EB6721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46040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226D1-424C-423E-ADFA-52D9B37CC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A5BB28-BE89-51C1-79D7-BE4169ECD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8C6FB39-4595-F0DA-8871-8AD54AB2C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Fase de </a:t>
            </a:r>
            <a:r>
              <a:rPr lang="en-US" dirty="0" err="1"/>
              <a:t>trânsito</a:t>
            </a:r>
            <a:r>
              <a:rPr lang="en-US" dirty="0"/>
              <a:t> 1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403546-E9A8-0042-190D-5EB120344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17</a:t>
            </a:fld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711C8A19-9C23-91BE-7BD4-8B6F29591B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425" y="2060848"/>
            <a:ext cx="7915150" cy="3655690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</p:spTree>
    <p:extLst>
      <p:ext uri="{BB962C8B-B14F-4D97-AF65-F5344CB8AC3E}">
        <p14:creationId xmlns:p14="http://schemas.microsoft.com/office/powerpoint/2010/main" val="2640766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D1142-F87F-55F2-8F0B-45F28C45A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6A5CCD1-F229-07F6-9FD2-C3A8BD529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425" y="2060848"/>
            <a:ext cx="7933802" cy="3655690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895A7D0-034F-F6AC-26C7-6013DFDAF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D63BF2-139E-8065-9532-9CB0F8E89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Fase de </a:t>
            </a:r>
            <a:r>
              <a:rPr lang="en-US" dirty="0" err="1"/>
              <a:t>trânsito</a:t>
            </a:r>
            <a:r>
              <a:rPr lang="en-US" dirty="0"/>
              <a:t> 2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EFEFC99-A5E3-7869-1964-FC8390C6B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4954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9A237-EDB5-9260-E637-925E9BB1A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3A81A3-4CDB-47E8-E7A4-2ABB3F756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875D02-7386-1E48-29AF-EF6746BDB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Fases</a:t>
            </a:r>
            <a:r>
              <a:rPr lang="en-US" dirty="0"/>
              <a:t> de </a:t>
            </a:r>
            <a:r>
              <a:rPr lang="en-US" dirty="0" err="1"/>
              <a:t>estacionamento</a:t>
            </a:r>
            <a:endParaRPr lang="en-US" dirty="0"/>
          </a:p>
          <a:p>
            <a:pPr lvl="1"/>
            <a:r>
              <a:rPr lang="en-US" dirty="0" err="1"/>
              <a:t>Veículos</a:t>
            </a:r>
            <a:r>
              <a:rPr lang="en-US" dirty="0"/>
              <a:t> </a:t>
            </a:r>
            <a:r>
              <a:rPr lang="en-US" dirty="0" err="1"/>
              <a:t>estacionados</a:t>
            </a:r>
            <a:r>
              <a:rPr lang="en-US" dirty="0"/>
              <a:t> </a:t>
            </a:r>
            <a:r>
              <a:rPr lang="en-US" dirty="0" err="1"/>
              <a:t>aleatóriamente</a:t>
            </a:r>
            <a:endParaRPr lang="en-US" dirty="0"/>
          </a:p>
          <a:p>
            <a:pPr lvl="1"/>
            <a:r>
              <a:rPr lang="pt-BR" dirty="0"/>
              <a:t>Sorteio da vaga de estacionamento</a:t>
            </a:r>
          </a:p>
          <a:p>
            <a:pPr lvl="1"/>
            <a:r>
              <a:rPr lang="pt-BR" dirty="0"/>
              <a:t>Tipos de vaga</a:t>
            </a:r>
          </a:p>
          <a:p>
            <a:pPr lvl="2"/>
            <a:r>
              <a:rPr lang="pt-BR" dirty="0"/>
              <a:t>Perpendicular (90°)</a:t>
            </a:r>
          </a:p>
          <a:p>
            <a:pPr lvl="2"/>
            <a:r>
              <a:rPr lang="pt-BR" dirty="0"/>
              <a:t>Ângulo (45°)</a:t>
            </a:r>
          </a:p>
          <a:p>
            <a:pPr lvl="2"/>
            <a:r>
              <a:rPr lang="pt-BR" dirty="0"/>
              <a:t>Paralela (baliza)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B507C61-70D4-60A8-ADED-22B0D9556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4056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6090-C667-4544-8C33-5C7BFEEF7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82E2FA33-5F7E-3CA2-46DC-C7AD5AF082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896" y="2060848"/>
            <a:ext cx="8064896" cy="3712211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CAF36D0-48DA-1E3E-60F2-30EC918ED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404CA59-690A-56B0-28E1-6EA397334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Fase de </a:t>
            </a:r>
            <a:r>
              <a:rPr lang="en-US" dirty="0" err="1"/>
              <a:t>estacionamento</a:t>
            </a:r>
            <a:r>
              <a:rPr lang="en-US" dirty="0"/>
              <a:t> 1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0CA4CD1-7F05-1E71-6386-7392CA6F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8195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32B04-F149-3DDA-6ECD-28542AB03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318974-8482-F6B5-CD9D-6C7BB01C2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16E4DB-078B-FC56-4FE3-54C1A5E1C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Fase de </a:t>
            </a:r>
            <a:r>
              <a:rPr lang="en-US" dirty="0" err="1"/>
              <a:t>estacionamento</a:t>
            </a:r>
            <a:r>
              <a:rPr lang="en-US" dirty="0"/>
              <a:t> 2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66BEBB-D1B3-FD8E-453E-FF1F75DC1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21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0A571BF-52EF-9023-0A00-845DA4ED13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896" y="2060848"/>
            <a:ext cx="8064896" cy="3705721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</p:spTree>
    <p:extLst>
      <p:ext uri="{BB962C8B-B14F-4D97-AF65-F5344CB8AC3E}">
        <p14:creationId xmlns:p14="http://schemas.microsoft.com/office/powerpoint/2010/main" val="42056816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FEA79-B223-F110-0A0B-7B12B7339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424D20C3-D3B7-4F76-8994-2C19F15AF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896" y="2060848"/>
            <a:ext cx="8064896" cy="3703441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EBADEBD-07FE-36A8-266F-EA298FD2C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849C086-5393-ED6A-4BC8-19823928B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Fase de </a:t>
            </a:r>
            <a:r>
              <a:rPr lang="en-US" dirty="0" err="1"/>
              <a:t>estacionamento</a:t>
            </a:r>
            <a:r>
              <a:rPr lang="en-US" dirty="0"/>
              <a:t> 3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B28BC30-BA68-14BD-9F38-C9E3422D5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8611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8F3FF-5EE3-B59A-2A3C-E1323082A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244324-A71E-1358-9AB3-52F39899A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534FD1-AF2A-04D3-38E4-0F589DBF5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Fases</a:t>
            </a:r>
            <a:r>
              <a:rPr lang="en-US" dirty="0"/>
              <a:t> de corrida</a:t>
            </a:r>
          </a:p>
          <a:p>
            <a:pPr lvl="1"/>
            <a:r>
              <a:rPr lang="en-US" dirty="0"/>
              <a:t>Cron</a:t>
            </a:r>
            <a:r>
              <a:rPr lang="pt-BR" dirty="0"/>
              <a:t>ô</a:t>
            </a:r>
            <a:r>
              <a:rPr lang="en-US" dirty="0"/>
              <a:t>metro </a:t>
            </a:r>
            <a:r>
              <a:rPr lang="en-US" dirty="0" err="1"/>
              <a:t>por</a:t>
            </a:r>
            <a:r>
              <a:rPr lang="en-US" dirty="0"/>
              <a:t> volta</a:t>
            </a:r>
          </a:p>
          <a:p>
            <a:pPr lvl="1"/>
            <a:r>
              <a:rPr lang="en-US" dirty="0" err="1"/>
              <a:t>Contabilizador</a:t>
            </a:r>
            <a:r>
              <a:rPr lang="en-US" dirty="0"/>
              <a:t> da </a:t>
            </a:r>
            <a:r>
              <a:rPr lang="en-US" dirty="0" err="1"/>
              <a:t>melhor</a:t>
            </a:r>
            <a:r>
              <a:rPr lang="en-US" dirty="0"/>
              <a:t> volta</a:t>
            </a:r>
          </a:p>
          <a:p>
            <a:pPr lvl="1"/>
            <a:r>
              <a:rPr lang="en-US" dirty="0"/>
              <a:t>Contador de </a:t>
            </a:r>
            <a:r>
              <a:rPr lang="en-US" dirty="0" err="1"/>
              <a:t>colisões</a:t>
            </a:r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D0333E-AF69-0039-1695-137686D12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61084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A2373-7C3D-C133-B8E4-225F66427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2C86FF-36C3-C82D-F426-7F491B036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726A1-C6D0-B91E-D260-4C795722E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Fase de corrida 1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B88385C-2CF4-842C-80B3-692FFEB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24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45F8D3B-7D6C-5739-CC34-F34F33980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28" y="2060848"/>
            <a:ext cx="8003232" cy="3702175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</p:spTree>
    <p:extLst>
      <p:ext uri="{BB962C8B-B14F-4D97-AF65-F5344CB8AC3E}">
        <p14:creationId xmlns:p14="http://schemas.microsoft.com/office/powerpoint/2010/main" val="18328636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259CD-49C6-A57A-D949-4F89CDC89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6B76A289-71EF-AC35-C24E-A050D1970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57" y="2060847"/>
            <a:ext cx="8029773" cy="3702175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2BA3339-DD42-04C5-6A79-D6AA2E8B8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76B0B5-A93E-E549-3BBC-1EA13B252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Fase de corrida 2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788693-5B83-3F6C-E8D5-6D9DCB7A4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3505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CB0B4-C5E8-1D4C-F44D-EE40A819C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A218DFA-1E83-ED02-FEDB-0C2AA827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39F44D72-16D2-D195-BDCF-3D293E02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188640"/>
            <a:ext cx="8229600" cy="1143000"/>
          </a:xfrm>
        </p:spPr>
        <p:txBody>
          <a:bodyPr/>
          <a:lstStyle/>
          <a:p>
            <a:r>
              <a:rPr lang="pt-BR" dirty="0"/>
              <a:t>Especificação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E36C1EB-BE24-0833-5395-AB5C9BD91D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33264"/>
            <a:ext cx="9144000" cy="4572000"/>
          </a:xfrm>
          <a:prstGeom prst="rect">
            <a:avLst/>
          </a:prstGeom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BFDF1002-4DA1-573C-A013-3470CF33B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680520"/>
          </a:xfrm>
        </p:spPr>
        <p:txBody>
          <a:bodyPr>
            <a:normAutofit/>
          </a:bodyPr>
          <a:lstStyle/>
          <a:p>
            <a:r>
              <a:rPr lang="en-US" dirty="0" err="1"/>
              <a:t>Fluxograma</a:t>
            </a:r>
            <a:r>
              <a:rPr lang="en-US" dirty="0"/>
              <a:t> para </a:t>
            </a:r>
            <a:r>
              <a:rPr lang="en-US" dirty="0" err="1"/>
              <a:t>ligar</a:t>
            </a:r>
            <a:r>
              <a:rPr lang="en-US" dirty="0"/>
              <a:t> o </a:t>
            </a:r>
            <a:r>
              <a:rPr lang="en-US" dirty="0" err="1"/>
              <a:t>carro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6453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18936-7637-C094-DD24-1ED76290C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DAEFB22-734D-D5F8-16CB-9FE00A7CA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27</a:t>
            </a:fld>
            <a:endParaRPr lang="pt-BR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06A794D-2B8F-3732-1FD6-2CD5E2E2E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188640"/>
            <a:ext cx="8229600" cy="1143000"/>
          </a:xfrm>
        </p:spPr>
        <p:txBody>
          <a:bodyPr/>
          <a:lstStyle/>
          <a:p>
            <a:r>
              <a:rPr lang="pt-BR" dirty="0"/>
              <a:t>Especificação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B3D1D56-EBA2-916F-9EB7-43B39CBFE7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33264"/>
            <a:ext cx="9144000" cy="4572000"/>
          </a:xfrm>
          <a:prstGeom prst="rect">
            <a:avLst/>
          </a:prstGeom>
        </p:spPr>
      </p:pic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1C21C543-72F5-5C73-C05F-62432A58C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680520"/>
          </a:xfrm>
        </p:spPr>
        <p:txBody>
          <a:bodyPr>
            <a:normAutofit/>
          </a:bodyPr>
          <a:lstStyle/>
          <a:p>
            <a:r>
              <a:rPr lang="en-US" dirty="0" err="1"/>
              <a:t>Fluxograma</a:t>
            </a:r>
            <a:r>
              <a:rPr lang="en-US" dirty="0"/>
              <a:t> para </a:t>
            </a:r>
            <a:r>
              <a:rPr lang="en-US" dirty="0" err="1"/>
              <a:t>desligar</a:t>
            </a:r>
            <a:r>
              <a:rPr lang="en-US" dirty="0"/>
              <a:t> o </a:t>
            </a:r>
            <a:r>
              <a:rPr lang="en-US" dirty="0" err="1"/>
              <a:t>carro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55035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3DB7B-450A-95FE-759F-7844E4ADF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8B524F-1BCC-C1AF-0124-3E7E207F0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74EE74C-DCF6-E829-F9C2-60A034654C11}"/>
              </a:ext>
            </a:extLst>
          </p:cNvPr>
          <p:cNvSpPr/>
          <p:nvPr/>
        </p:nvSpPr>
        <p:spPr>
          <a:xfrm>
            <a:off x="3575127" y="3055057"/>
            <a:ext cx="1993710" cy="1395957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dirty="0"/>
              <a:t>Carro</a:t>
            </a:r>
          </a:p>
          <a:p>
            <a:pPr algn="ctr"/>
            <a:r>
              <a:rPr lang="pt-BR" sz="2800" dirty="0" err="1"/>
              <a:t>Jogador.cs</a:t>
            </a:r>
            <a:endParaRPr lang="pt-BR" sz="2800" dirty="0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CFB8B20-0D21-A0F6-2022-477A63D364C3}"/>
              </a:ext>
            </a:extLst>
          </p:cNvPr>
          <p:cNvSpPr/>
          <p:nvPr/>
        </p:nvSpPr>
        <p:spPr>
          <a:xfrm>
            <a:off x="3433362" y="1552228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CarroCinto</a:t>
            </a:r>
            <a:endParaRPr lang="pt-BR" dirty="0"/>
          </a:p>
          <a:p>
            <a:pPr algn="ctr"/>
            <a:r>
              <a:rPr lang="pt-BR" dirty="0" err="1"/>
              <a:t>Seguranca.cs</a:t>
            </a:r>
            <a:endParaRPr lang="pt-BR" dirty="0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74317D3-B302-DE2B-9C22-F2B2DD26DF80}"/>
              </a:ext>
            </a:extLst>
          </p:cNvPr>
          <p:cNvSpPr/>
          <p:nvPr/>
        </p:nvSpPr>
        <p:spPr>
          <a:xfrm>
            <a:off x="6057190" y="1786254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CarroFarois.cs</a:t>
            </a:r>
            <a:endParaRPr lang="pt-BR" dirty="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B36F7CD-9736-867F-F50D-102A8778856B}"/>
              </a:ext>
            </a:extLst>
          </p:cNvPr>
          <p:cNvSpPr/>
          <p:nvPr/>
        </p:nvSpPr>
        <p:spPr>
          <a:xfrm>
            <a:off x="782554" y="1786254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CarroCameras.cs</a:t>
            </a:r>
            <a:endParaRPr lang="pt-BR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553EB1A-A2CB-4725-87A2-4D7164365089}"/>
              </a:ext>
            </a:extLst>
          </p:cNvPr>
          <p:cNvSpPr/>
          <p:nvPr/>
        </p:nvSpPr>
        <p:spPr>
          <a:xfrm>
            <a:off x="782554" y="4985193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CarroRodas.cs</a:t>
            </a:r>
            <a:endParaRPr lang="pt-BR" dirty="0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4EB63658-8049-0685-C042-8A5B21805046}"/>
              </a:ext>
            </a:extLst>
          </p:cNvPr>
          <p:cNvSpPr/>
          <p:nvPr/>
        </p:nvSpPr>
        <p:spPr>
          <a:xfrm>
            <a:off x="467544" y="3904795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CarroSetas.cs</a:t>
            </a:r>
            <a:endParaRPr lang="pt-BR" dirty="0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F1A2801-9608-04AD-6CAE-2E71E9B01AAF}"/>
              </a:ext>
            </a:extLst>
          </p:cNvPr>
          <p:cNvSpPr/>
          <p:nvPr/>
        </p:nvSpPr>
        <p:spPr>
          <a:xfrm>
            <a:off x="6372200" y="3904795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CarroFreioMao.cs</a:t>
            </a:r>
            <a:endParaRPr lang="pt-BR" dirty="0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0D2AD1A0-26F3-B7B0-A2AB-23A8CF150204}"/>
              </a:ext>
            </a:extLst>
          </p:cNvPr>
          <p:cNvSpPr/>
          <p:nvPr/>
        </p:nvSpPr>
        <p:spPr>
          <a:xfrm>
            <a:off x="3419872" y="5161756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CarroMotor.cs</a:t>
            </a:r>
            <a:endParaRPr lang="pt-BR" dirty="0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93BB595C-1206-2401-D7DC-EEB041250F46}"/>
              </a:ext>
            </a:extLst>
          </p:cNvPr>
          <p:cNvSpPr/>
          <p:nvPr/>
        </p:nvSpPr>
        <p:spPr>
          <a:xfrm>
            <a:off x="6372200" y="2825131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CarroFisica</a:t>
            </a:r>
            <a:endParaRPr lang="pt-BR" dirty="0"/>
          </a:p>
          <a:p>
            <a:pPr algn="ctr"/>
            <a:r>
              <a:rPr lang="pt-BR" dirty="0" err="1"/>
              <a:t>Automatica.cs</a:t>
            </a:r>
            <a:endParaRPr lang="pt-BR" dirty="0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857E53B-D713-CD9A-6787-F76609557543}"/>
              </a:ext>
            </a:extLst>
          </p:cNvPr>
          <p:cNvSpPr/>
          <p:nvPr/>
        </p:nvSpPr>
        <p:spPr>
          <a:xfrm>
            <a:off x="6057190" y="4985193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CarroMarchas.cs</a:t>
            </a:r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F5A9D079-3A58-0F26-66EE-42D3F4369185}"/>
              </a:ext>
            </a:extLst>
          </p:cNvPr>
          <p:cNvSpPr/>
          <p:nvPr/>
        </p:nvSpPr>
        <p:spPr>
          <a:xfrm>
            <a:off x="467544" y="2825131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CarroVolante.cs</a:t>
            </a:r>
            <a:endParaRPr lang="pt-BR" dirty="0"/>
          </a:p>
        </p:txBody>
      </p: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A8F1FD2E-5835-3209-53D4-E1EC599423DB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4571982" y="2344316"/>
            <a:ext cx="13508" cy="7107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B8138BE3-A86C-14ED-6F77-00F9F8218B14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>
            <a:off x="4571982" y="4451014"/>
            <a:ext cx="18" cy="7107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876F3324-BE18-0F15-671B-583E25581EC8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2771800" y="3988107"/>
            <a:ext cx="803327" cy="312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B705753F-A19D-3602-1388-F898C88AC75D}"/>
              </a:ext>
            </a:extLst>
          </p:cNvPr>
          <p:cNvCxnSpPr>
            <a:cxnSpLocks/>
            <a:endCxn id="19" idx="3"/>
          </p:cNvCxnSpPr>
          <p:nvPr/>
        </p:nvCxnSpPr>
        <p:spPr>
          <a:xfrm flipH="1" flipV="1">
            <a:off x="2771800" y="3221175"/>
            <a:ext cx="803327" cy="2183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ector de Seta Reta 112">
            <a:extLst>
              <a:ext uri="{FF2B5EF4-FFF2-40B4-BE49-F238E27FC236}">
                <a16:creationId xmlns:a16="http://schemas.microsoft.com/office/drawing/2014/main" id="{A82FF031-B98C-EE7F-9FC4-36E1FB993103}"/>
              </a:ext>
            </a:extLst>
          </p:cNvPr>
          <p:cNvCxnSpPr>
            <a:cxnSpLocks/>
          </p:cNvCxnSpPr>
          <p:nvPr/>
        </p:nvCxnSpPr>
        <p:spPr>
          <a:xfrm flipV="1">
            <a:off x="5554241" y="2578342"/>
            <a:ext cx="502949" cy="4903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de Seta Reta 116">
            <a:extLst>
              <a:ext uri="{FF2B5EF4-FFF2-40B4-BE49-F238E27FC236}">
                <a16:creationId xmlns:a16="http://schemas.microsoft.com/office/drawing/2014/main" id="{BE98916C-A151-754A-3DF4-2E7D77B2C10F}"/>
              </a:ext>
            </a:extLst>
          </p:cNvPr>
          <p:cNvCxnSpPr>
            <a:cxnSpLocks/>
          </p:cNvCxnSpPr>
          <p:nvPr/>
        </p:nvCxnSpPr>
        <p:spPr>
          <a:xfrm flipH="1" flipV="1">
            <a:off x="3086810" y="2578342"/>
            <a:ext cx="497294" cy="4903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ector de Seta Reta 119">
            <a:extLst>
              <a:ext uri="{FF2B5EF4-FFF2-40B4-BE49-F238E27FC236}">
                <a16:creationId xmlns:a16="http://schemas.microsoft.com/office/drawing/2014/main" id="{6FC09BFD-3813-AB8D-1068-2935C204B878}"/>
              </a:ext>
            </a:extLst>
          </p:cNvPr>
          <p:cNvCxnSpPr>
            <a:cxnSpLocks/>
          </p:cNvCxnSpPr>
          <p:nvPr/>
        </p:nvCxnSpPr>
        <p:spPr>
          <a:xfrm>
            <a:off x="5554241" y="4436656"/>
            <a:ext cx="502949" cy="548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21">
            <a:extLst>
              <a:ext uri="{FF2B5EF4-FFF2-40B4-BE49-F238E27FC236}">
                <a16:creationId xmlns:a16="http://schemas.microsoft.com/office/drawing/2014/main" id="{3D7CD8A7-818C-7B0A-4FD7-4982E25769FA}"/>
              </a:ext>
            </a:extLst>
          </p:cNvPr>
          <p:cNvCxnSpPr>
            <a:cxnSpLocks/>
          </p:cNvCxnSpPr>
          <p:nvPr/>
        </p:nvCxnSpPr>
        <p:spPr>
          <a:xfrm flipH="1">
            <a:off x="3086810" y="4436656"/>
            <a:ext cx="497294" cy="548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23">
            <a:extLst>
              <a:ext uri="{FF2B5EF4-FFF2-40B4-BE49-F238E27FC236}">
                <a16:creationId xmlns:a16="http://schemas.microsoft.com/office/drawing/2014/main" id="{03A614DC-867A-ECAF-AAF7-A96201D0D7EA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5568837" y="3221175"/>
            <a:ext cx="803363" cy="2183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ector de Seta Reta 125">
            <a:extLst>
              <a:ext uri="{FF2B5EF4-FFF2-40B4-BE49-F238E27FC236}">
                <a16:creationId xmlns:a16="http://schemas.microsoft.com/office/drawing/2014/main" id="{1C40B118-9D4C-3279-D1C9-451E4F6F6A78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568837" y="3998226"/>
            <a:ext cx="803363" cy="30261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Espaço Reservado para Número de Slide 166">
            <a:extLst>
              <a:ext uri="{FF2B5EF4-FFF2-40B4-BE49-F238E27FC236}">
                <a16:creationId xmlns:a16="http://schemas.microsoft.com/office/drawing/2014/main" id="{10A7B5B7-542C-417F-8C3F-88ADA3549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65468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06071-6034-9D59-9467-0D2F8BC08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9C5642-6C75-FEB3-DA02-90EB0F39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Especificação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0BBE9AC-FDA3-BF9A-E62B-3B04F9782286}"/>
              </a:ext>
            </a:extLst>
          </p:cNvPr>
          <p:cNvSpPr/>
          <p:nvPr/>
        </p:nvSpPr>
        <p:spPr>
          <a:xfrm>
            <a:off x="251520" y="1331640"/>
            <a:ext cx="2736304" cy="4329608"/>
          </a:xfrm>
          <a:prstGeom prst="roundRect">
            <a:avLst>
              <a:gd name="adj" fmla="val 4756"/>
            </a:avLst>
          </a:prstGeom>
          <a:solidFill>
            <a:srgbClr val="75C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ctr"/>
            <a:r>
              <a:rPr lang="pt-BR" sz="2000" b="1" dirty="0"/>
              <a:t>Scripts de pontuação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EFBFA57-8187-F88E-F6CD-C7C34758228F}"/>
              </a:ext>
            </a:extLst>
          </p:cNvPr>
          <p:cNvSpPr/>
          <p:nvPr/>
        </p:nvSpPr>
        <p:spPr>
          <a:xfrm>
            <a:off x="3203848" y="1331640"/>
            <a:ext cx="2736304" cy="4329608"/>
          </a:xfrm>
          <a:prstGeom prst="roundRect">
            <a:avLst>
              <a:gd name="adj" fmla="val 4756"/>
            </a:avLst>
          </a:prstGeom>
          <a:solidFill>
            <a:srgbClr val="FFD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2000" b="1" dirty="0"/>
              <a:t>Scripts de validação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A31BA64-4C6D-3B9D-6F9F-F0116B01B873}"/>
              </a:ext>
            </a:extLst>
          </p:cNvPr>
          <p:cNvSpPr/>
          <p:nvPr/>
        </p:nvSpPr>
        <p:spPr>
          <a:xfrm>
            <a:off x="6156176" y="1331640"/>
            <a:ext cx="2736304" cy="4329608"/>
          </a:xfrm>
          <a:prstGeom prst="roundRect">
            <a:avLst>
              <a:gd name="adj" fmla="val 4756"/>
            </a:avLst>
          </a:prstGeom>
          <a:solidFill>
            <a:srgbClr val="FF85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BR" sz="2000" b="1" dirty="0"/>
              <a:t>Scripts de cenário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D6C7DE6-0D81-7EFD-A5D4-36B047109278}"/>
              </a:ext>
            </a:extLst>
          </p:cNvPr>
          <p:cNvSpPr/>
          <p:nvPr/>
        </p:nvSpPr>
        <p:spPr>
          <a:xfrm>
            <a:off x="465685" y="3747323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2DA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Contador</a:t>
            </a:r>
          </a:p>
          <a:p>
            <a:pPr algn="ctr"/>
            <a:r>
              <a:rPr lang="pt-BR" dirty="0" err="1"/>
              <a:t>Infracoes.cs</a:t>
            </a:r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7A762C6-5003-9B75-4B93-56AA9D1C88EA}"/>
              </a:ext>
            </a:extLst>
          </p:cNvPr>
          <p:cNvSpPr/>
          <p:nvPr/>
        </p:nvSpPr>
        <p:spPr>
          <a:xfrm>
            <a:off x="467544" y="4663176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2DA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Waypoint</a:t>
            </a:r>
            <a:endParaRPr lang="pt-BR" dirty="0"/>
          </a:p>
          <a:p>
            <a:pPr algn="ctr"/>
            <a:r>
              <a:rPr lang="pt-BR" dirty="0" err="1"/>
              <a:t>Corrida.cs</a:t>
            </a:r>
            <a:endParaRPr lang="pt-BR" dirty="0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70819B69-20DA-12BA-E9B0-506E9BA5CB65}"/>
              </a:ext>
            </a:extLst>
          </p:cNvPr>
          <p:cNvSpPr/>
          <p:nvPr/>
        </p:nvSpPr>
        <p:spPr>
          <a:xfrm>
            <a:off x="3408834" y="3747323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Validador</a:t>
            </a:r>
          </a:p>
          <a:p>
            <a:pPr algn="ctr"/>
            <a:r>
              <a:rPr lang="pt-BR" dirty="0" err="1"/>
              <a:t>VelocidadeArea.cs</a:t>
            </a:r>
            <a:endParaRPr lang="pt-BR" dirty="0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B4AC756-ABCB-B559-B482-401DF3ABF3DE}"/>
              </a:ext>
            </a:extLst>
          </p:cNvPr>
          <p:cNvSpPr/>
          <p:nvPr/>
        </p:nvSpPr>
        <p:spPr>
          <a:xfrm>
            <a:off x="3408834" y="4663176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Verificar</a:t>
            </a:r>
          </a:p>
          <a:p>
            <a:pPr algn="ctr"/>
            <a:r>
              <a:rPr lang="pt-BR" dirty="0" err="1"/>
              <a:t>CarroNaVaga.cs</a:t>
            </a:r>
            <a:endParaRPr lang="pt-BR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F4A2C5D-8D8D-AF68-F0F0-4133D95562EF}"/>
              </a:ext>
            </a:extLst>
          </p:cNvPr>
          <p:cNvSpPr/>
          <p:nvPr/>
        </p:nvSpPr>
        <p:spPr>
          <a:xfrm>
            <a:off x="6378403" y="3747323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3B3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Chuva.cs</a:t>
            </a:r>
            <a:endParaRPr lang="pt-BR" dirty="0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BB44420-4302-9A00-D8B1-CAE27C6639D8}"/>
              </a:ext>
            </a:extLst>
          </p:cNvPr>
          <p:cNvSpPr/>
          <p:nvPr/>
        </p:nvSpPr>
        <p:spPr>
          <a:xfrm>
            <a:off x="6380262" y="4663176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3B3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Gerenciador</a:t>
            </a:r>
          </a:p>
          <a:p>
            <a:pPr algn="ctr"/>
            <a:r>
              <a:rPr lang="pt-BR" dirty="0" err="1"/>
              <a:t>Vagas.cs</a:t>
            </a:r>
            <a:endParaRPr lang="pt-BR" dirty="0"/>
          </a:p>
        </p:txBody>
      </p:sp>
      <p:sp>
        <p:nvSpPr>
          <p:cNvPr id="29" name="Espaço Reservado para Número de Slide 28">
            <a:extLst>
              <a:ext uri="{FF2B5EF4-FFF2-40B4-BE49-F238E27FC236}">
                <a16:creationId xmlns:a16="http://schemas.microsoft.com/office/drawing/2014/main" id="{CCC70364-A313-D609-71A5-DCE0E4FD3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29</a:t>
            </a:fld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1FA5DAC8-34FB-5B78-F7C8-9F887FB7AF5B}"/>
              </a:ext>
            </a:extLst>
          </p:cNvPr>
          <p:cNvSpPr/>
          <p:nvPr/>
        </p:nvSpPr>
        <p:spPr>
          <a:xfrm>
            <a:off x="3419872" y="2831470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Validador</a:t>
            </a:r>
          </a:p>
          <a:p>
            <a:pPr algn="ctr"/>
            <a:r>
              <a:rPr lang="pt-BR" dirty="0" err="1"/>
              <a:t>SetaCurva.cs</a:t>
            </a:r>
            <a:endParaRPr lang="pt-BR" dirty="0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E61783B-58C2-5BBE-008E-A4FC3E2FEEF4}"/>
              </a:ext>
            </a:extLst>
          </p:cNvPr>
          <p:cNvSpPr/>
          <p:nvPr/>
        </p:nvSpPr>
        <p:spPr>
          <a:xfrm>
            <a:off x="3419872" y="1915617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Validador</a:t>
            </a:r>
          </a:p>
          <a:p>
            <a:pPr algn="ctr"/>
            <a:r>
              <a:rPr lang="pt-BR" dirty="0" err="1"/>
              <a:t>Semaforo.cs</a:t>
            </a:r>
            <a:endParaRPr lang="pt-BR" dirty="0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178161EA-05A8-BF1A-0D8A-46D092612682}"/>
              </a:ext>
            </a:extLst>
          </p:cNvPr>
          <p:cNvSpPr/>
          <p:nvPr/>
        </p:nvSpPr>
        <p:spPr>
          <a:xfrm>
            <a:off x="6373443" y="1915617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3B3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Pedestre.cs</a:t>
            </a:r>
            <a:endParaRPr lang="pt-BR" dirty="0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06A550C-7DDD-8893-38EB-D368744D85CF}"/>
              </a:ext>
            </a:extLst>
          </p:cNvPr>
          <p:cNvSpPr/>
          <p:nvPr/>
        </p:nvSpPr>
        <p:spPr>
          <a:xfrm>
            <a:off x="6375302" y="2831470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FF3B3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Semaforo.cs</a:t>
            </a:r>
            <a:endParaRPr lang="pt-BR" dirty="0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1F5FEF6-430C-CB49-9908-8E06A23DFFC9}"/>
              </a:ext>
            </a:extLst>
          </p:cNvPr>
          <p:cNvSpPr/>
          <p:nvPr/>
        </p:nvSpPr>
        <p:spPr>
          <a:xfrm>
            <a:off x="465685" y="1915617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2DA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Cronometro.cs</a:t>
            </a:r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D67DA66-48E5-DCA8-A8F5-578BB2EFEABB}"/>
              </a:ext>
            </a:extLst>
          </p:cNvPr>
          <p:cNvSpPr/>
          <p:nvPr/>
        </p:nvSpPr>
        <p:spPr>
          <a:xfrm>
            <a:off x="467544" y="2831470"/>
            <a:ext cx="2304256" cy="792088"/>
          </a:xfrm>
          <a:prstGeom prst="roundRect">
            <a:avLst>
              <a:gd name="adj" fmla="val 4756"/>
            </a:avLst>
          </a:prstGeom>
          <a:solidFill>
            <a:srgbClr val="2DA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Contador</a:t>
            </a:r>
          </a:p>
          <a:p>
            <a:pPr algn="ctr"/>
            <a:r>
              <a:rPr lang="pt-BR" dirty="0" err="1"/>
              <a:t>Colisoes.cs</a:t>
            </a:r>
            <a:endParaRPr lang="pt-BR" dirty="0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0FFE0B77-903B-7F38-2040-2D78147A9171}"/>
              </a:ext>
            </a:extLst>
          </p:cNvPr>
          <p:cNvSpPr/>
          <p:nvPr/>
        </p:nvSpPr>
        <p:spPr>
          <a:xfrm>
            <a:off x="1619672" y="5808280"/>
            <a:ext cx="4320480" cy="686602"/>
          </a:xfrm>
          <a:prstGeom prst="roundRect">
            <a:avLst>
              <a:gd name="adj" fmla="val 4756"/>
            </a:avLst>
          </a:prstGeom>
          <a:solidFill>
            <a:srgbClr val="B4DE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000" b="1" dirty="0"/>
              <a:t>Script de UI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71154FD9-040C-7422-B72F-66B98FA1972A}"/>
              </a:ext>
            </a:extLst>
          </p:cNvPr>
          <p:cNvSpPr/>
          <p:nvPr/>
        </p:nvSpPr>
        <p:spPr>
          <a:xfrm>
            <a:off x="3408834" y="5910512"/>
            <a:ext cx="2304256" cy="476250"/>
          </a:xfrm>
          <a:prstGeom prst="roundRect">
            <a:avLst>
              <a:gd name="adj" fmla="val 4756"/>
            </a:avLst>
          </a:prstGeom>
          <a:solidFill>
            <a:srgbClr val="A4D7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Notificacao.cs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20360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3008F-AA8F-9306-F46C-6A686E41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50F911-B221-1881-598E-10C0A3BD5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4CEF2B-F91F-9B7F-02B6-2A2DFA4E1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Unity (6000.0.29f1)</a:t>
            </a:r>
          </a:p>
          <a:p>
            <a:r>
              <a:rPr lang="pt-BR" dirty="0"/>
              <a:t>Unity </a:t>
            </a:r>
            <a:r>
              <a:rPr lang="pt-BR" dirty="0" err="1"/>
              <a:t>Asset</a:t>
            </a:r>
            <a:r>
              <a:rPr lang="pt-BR" dirty="0"/>
              <a:t> Store</a:t>
            </a:r>
          </a:p>
          <a:p>
            <a:r>
              <a:rPr lang="pt-BR" dirty="0"/>
              <a:t>Scripts C#</a:t>
            </a:r>
          </a:p>
          <a:p>
            <a:r>
              <a:rPr lang="pt-BR" dirty="0" err="1"/>
              <a:t>JetBrains</a:t>
            </a:r>
            <a:r>
              <a:rPr lang="pt-BR" dirty="0"/>
              <a:t> Rider (2024.3.2)</a:t>
            </a:r>
          </a:p>
          <a:p>
            <a:r>
              <a:rPr lang="pt-BR" dirty="0"/>
              <a:t>Visual Studio </a:t>
            </a:r>
            <a:r>
              <a:rPr lang="pt-BR" dirty="0" err="1"/>
              <a:t>Code</a:t>
            </a:r>
            <a:r>
              <a:rPr lang="pt-BR" dirty="0"/>
              <a:t> (1.126.0)</a:t>
            </a:r>
          </a:p>
          <a:p>
            <a:r>
              <a:rPr lang="pt-BR" dirty="0"/>
              <a:t>OpenAI Codex (GPT-5.5)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A1687DD-7C29-FE83-5495-1F6BD1DCF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39764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A7CB-820E-7F51-BECD-1D533FA3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8DDE37-AB97-A747-1DFB-8E847CC1C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A2AE6CCF-94CB-774E-32B3-1816F57F98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280884"/>
              </p:ext>
            </p:extLst>
          </p:nvPr>
        </p:nvGraphicFramePr>
        <p:xfrm>
          <a:off x="457200" y="1412875"/>
          <a:ext cx="8251884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4760">
                  <a:extLst>
                    <a:ext uri="{9D8B030D-6E8A-4147-A177-3AD203B41FA5}">
                      <a16:colId xmlns:a16="http://schemas.microsoft.com/office/drawing/2014/main" val="3514356728"/>
                    </a:ext>
                  </a:extLst>
                </a:gridCol>
                <a:gridCol w="4497124">
                  <a:extLst>
                    <a:ext uri="{9D8B030D-6E8A-4147-A177-3AD203B41FA5}">
                      <a16:colId xmlns:a16="http://schemas.microsoft.com/office/drawing/2014/main" val="30548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Asset</a:t>
                      </a:r>
                      <a:endParaRPr lang="pt-BR" dirty="0"/>
                    </a:p>
                  </a:txBody>
                  <a:tcPr>
                    <a:solidFill>
                      <a:srgbClr val="0057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Utilizado para [...]</a:t>
                      </a:r>
                      <a:endParaRPr lang="pt-BR" dirty="0"/>
                    </a:p>
                  </a:txBody>
                  <a:tcPr>
                    <a:solidFill>
                      <a:srgbClr val="0057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67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Stylized</a:t>
                      </a:r>
                      <a:r>
                        <a:rPr lang="pt-BR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t-BR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Hypercars</a:t>
                      </a:r>
                      <a:endParaRPr lang="pt-BR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os modelos de veículos.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575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Low Poly Vehicle1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os modelos de veículos.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15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Low Poly Vehicle2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os modelos de veículos.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441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Logitech Gaming SDK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integrar o volante Logitech G29.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North American Speed Signs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sinalização viária.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21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Simple Citizens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os pedestres nos ambientes urbanos.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829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Simple Poly City - Low Poly Assets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os cenários de trânsito urbano.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302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Simple Racer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os cenários de corrida.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599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Simple Town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os cenários de estacionamento.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48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Simple Sky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o céu e os ciclos de dia e noite.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493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Rain Maker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implementar o efeito de chuva.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5933444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091938B-A5FD-DE8D-45F9-BFAA336FB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54211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E6C96-12A8-B671-DD4E-343F0DA35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C8DBAB-9100-DF61-5500-F35369C7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C91724-CA4C-30FD-55FE-1EB84527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Pedestres</a:t>
            </a:r>
          </a:p>
          <a:p>
            <a:pPr lvl="1"/>
            <a:r>
              <a:rPr lang="pt-BR" dirty="0" err="1"/>
              <a:t>NavMesh</a:t>
            </a:r>
            <a:endParaRPr lang="en-US" dirty="0"/>
          </a:p>
          <a:p>
            <a:pPr lvl="2"/>
            <a:r>
              <a:rPr lang="en-US" dirty="0"/>
              <a:t>Surface</a:t>
            </a:r>
          </a:p>
          <a:p>
            <a:pPr lvl="2"/>
            <a:r>
              <a:rPr lang="en-US" dirty="0"/>
              <a:t>Modifier</a:t>
            </a:r>
          </a:p>
          <a:p>
            <a:pPr lvl="2"/>
            <a:r>
              <a:rPr lang="en-US" dirty="0"/>
              <a:t>Agent</a:t>
            </a:r>
          </a:p>
          <a:p>
            <a:pPr lvl="1"/>
            <a:r>
              <a:rPr lang="en-US" dirty="0"/>
              <a:t>Animator</a:t>
            </a:r>
          </a:p>
          <a:p>
            <a:endParaRPr lang="pt-BR" dirty="0"/>
          </a:p>
          <a:p>
            <a:r>
              <a:rPr lang="pt-BR" dirty="0" err="1"/>
              <a:t>Semaforo</a:t>
            </a:r>
            <a:endParaRPr lang="pt-BR" dirty="0"/>
          </a:p>
          <a:p>
            <a:pPr lvl="1"/>
            <a:r>
              <a:rPr lang="pt-BR" dirty="0" err="1"/>
              <a:t>Coroutine</a:t>
            </a:r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BAD8E5-9189-6C68-F898-3EF17CD2D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32</a:t>
            </a:fld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DCA7727-E7AF-B8B3-61A9-1EE786C16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40" y="1416968"/>
            <a:ext cx="5328592" cy="2933048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AB0735BF-8319-E923-2B7E-58445230A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8947" y="4057179"/>
            <a:ext cx="3748077" cy="2664296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</p:spTree>
    <p:extLst>
      <p:ext uri="{BB962C8B-B14F-4D97-AF65-F5344CB8AC3E}">
        <p14:creationId xmlns:p14="http://schemas.microsoft.com/office/powerpoint/2010/main" val="36607575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CB525-0CC9-749D-FD27-D393004B6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4FA951-FC53-732B-815E-2D404886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E902AF-1399-933E-3EBC-F2863CE5A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Funções</a:t>
            </a:r>
          </a:p>
          <a:p>
            <a:pPr lvl="1"/>
            <a:r>
              <a:rPr lang="pt-BR" dirty="0" err="1"/>
              <a:t>OnTriggerEnter</a:t>
            </a:r>
            <a:endParaRPr lang="pt-BR" dirty="0"/>
          </a:p>
          <a:p>
            <a:pPr lvl="1"/>
            <a:r>
              <a:rPr lang="pt-BR" dirty="0" err="1"/>
              <a:t>OnTriggerExit</a:t>
            </a:r>
            <a:endParaRPr lang="pt-BR" dirty="0"/>
          </a:p>
          <a:p>
            <a:r>
              <a:rPr lang="pt-BR" dirty="0" err="1"/>
              <a:t>Colliders</a:t>
            </a:r>
            <a:endParaRPr lang="pt-BR" dirty="0"/>
          </a:p>
          <a:p>
            <a:pPr lvl="1"/>
            <a:r>
              <a:rPr lang="pt-BR" dirty="0" err="1"/>
              <a:t>BoxCollider</a:t>
            </a:r>
            <a:endParaRPr lang="pt-BR" dirty="0"/>
          </a:p>
          <a:p>
            <a:pPr lvl="1"/>
            <a:r>
              <a:rPr lang="pt-BR" dirty="0" err="1"/>
              <a:t>MeshCollider</a:t>
            </a:r>
            <a:endParaRPr lang="pt-BR" dirty="0"/>
          </a:p>
          <a:p>
            <a:pPr lvl="1"/>
            <a:r>
              <a:rPr lang="pt-BR" dirty="0" err="1"/>
              <a:t>WheelCollider</a:t>
            </a:r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26F8AF-DFFB-225D-C6E4-59FF45743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87540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A27D1-AD8C-38CF-0DC3-8B714C3D3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128353-7E3C-97C4-FC97-27ECC526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589AEE-CB0D-F69B-3403-EF4322843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445224"/>
          </a:xfrm>
        </p:spPr>
        <p:txBody>
          <a:bodyPr>
            <a:normAutofit/>
          </a:bodyPr>
          <a:lstStyle/>
          <a:p>
            <a:r>
              <a:rPr lang="pt-BR" dirty="0"/>
              <a:t>Colisores de estacionamento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pPr lvl="1">
              <a:spcBef>
                <a:spcPts val="0"/>
              </a:spcBef>
            </a:pPr>
            <a:r>
              <a:rPr lang="pt-BR" sz="2400" dirty="0"/>
              <a:t>Pontos mínimos e máximos de X, Y e Z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7A2C69-DC24-90CC-4EFE-7744DADF5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34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836D56A-3BA9-6647-0C72-C8E9B928A7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009" y="1988840"/>
            <a:ext cx="8188670" cy="3771154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</p:spTree>
    <p:extLst>
      <p:ext uri="{BB962C8B-B14F-4D97-AF65-F5344CB8AC3E}">
        <p14:creationId xmlns:p14="http://schemas.microsoft.com/office/powerpoint/2010/main" val="37547750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4E1AA-2662-7CE3-4336-7D1701D62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E9001500-7ABB-09CF-C935-DE2CBD546E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009" y="1988841"/>
            <a:ext cx="8198791" cy="3773842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700D97D-A05D-F273-CD7E-745EA7C17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869711E-CE03-7202-3A7D-953934A5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445224"/>
          </a:xfrm>
        </p:spPr>
        <p:txBody>
          <a:bodyPr>
            <a:normAutofit/>
          </a:bodyPr>
          <a:lstStyle/>
          <a:p>
            <a:r>
              <a:rPr lang="pt-BR" dirty="0"/>
              <a:t>Colisores de estacionamento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pPr lvl="1">
              <a:spcBef>
                <a:spcPts val="0"/>
              </a:spcBef>
            </a:pPr>
            <a:r>
              <a:rPr lang="pt-BR" sz="2400" dirty="0"/>
              <a:t>Pontos mínimos e máximos de X, Y e Z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14D2909-D9C8-9C14-2801-33FD394EF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36908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670F-62DA-B3D0-5E8D-2CB35A42E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3C2067-5E08-85FC-2B40-3A84C5AD4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00C25CC-73BB-1D03-DE13-4DF8B6FD3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824" y="1412776"/>
            <a:ext cx="8229600" cy="5226774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Carro</a:t>
            </a:r>
          </a:p>
          <a:p>
            <a:pPr lvl="1"/>
            <a:r>
              <a:rPr lang="pt-BR" dirty="0" err="1"/>
              <a:t>WheelColliders</a:t>
            </a:r>
            <a:endParaRPr lang="pt-BR" dirty="0"/>
          </a:p>
          <a:p>
            <a:pPr lvl="2"/>
            <a:r>
              <a:rPr lang="pt-BR" dirty="0"/>
              <a:t>Ângulo</a:t>
            </a:r>
          </a:p>
          <a:p>
            <a:pPr lvl="3"/>
            <a:r>
              <a:rPr lang="pt-BR" dirty="0" err="1"/>
              <a:t>SteerAngle</a:t>
            </a:r>
            <a:endParaRPr lang="pt-BR" dirty="0"/>
          </a:p>
          <a:p>
            <a:pPr lvl="2"/>
            <a:r>
              <a:rPr lang="pt-BR" dirty="0"/>
              <a:t>Aceleração</a:t>
            </a:r>
          </a:p>
          <a:p>
            <a:pPr lvl="3"/>
            <a:r>
              <a:rPr lang="pt-BR" dirty="0" err="1"/>
              <a:t>MotorTorque</a:t>
            </a:r>
            <a:endParaRPr lang="pt-BR" dirty="0"/>
          </a:p>
          <a:p>
            <a:pPr lvl="2"/>
            <a:r>
              <a:rPr lang="pt-BR" dirty="0"/>
              <a:t>Freio</a:t>
            </a:r>
          </a:p>
          <a:p>
            <a:pPr lvl="3"/>
            <a:r>
              <a:rPr lang="pt-BR" dirty="0" err="1"/>
              <a:t>BrakeTorque</a:t>
            </a:r>
            <a:endParaRPr lang="pt-BR" dirty="0"/>
          </a:p>
          <a:p>
            <a:pPr lvl="2"/>
            <a:r>
              <a:rPr lang="pt-BR" dirty="0"/>
              <a:t>Derrapagem</a:t>
            </a:r>
          </a:p>
          <a:p>
            <a:pPr lvl="3"/>
            <a:r>
              <a:rPr lang="pt-BR" dirty="0" err="1"/>
              <a:t>Stiffness</a:t>
            </a:r>
            <a:r>
              <a:rPr lang="pt-BR" dirty="0"/>
              <a:t> </a:t>
            </a:r>
          </a:p>
          <a:p>
            <a:pPr lvl="3"/>
            <a:r>
              <a:rPr lang="pt-BR" dirty="0" err="1"/>
              <a:t>SidewaysFriction</a:t>
            </a:r>
            <a:endParaRPr lang="pt-BR" dirty="0"/>
          </a:p>
          <a:p>
            <a:pPr lvl="1"/>
            <a:endParaRPr lang="pt-BR" dirty="0"/>
          </a:p>
          <a:p>
            <a:pPr lvl="1"/>
            <a:r>
              <a:rPr lang="pt-BR" dirty="0"/>
              <a:t>Geometria de</a:t>
            </a:r>
          </a:p>
          <a:p>
            <a:pPr marL="457200" lvl="1" indent="0">
              <a:buNone/>
            </a:pPr>
            <a:r>
              <a:rPr lang="pt-BR" dirty="0"/>
              <a:t>Ackermann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C32ECE3-820A-A9A6-1653-749F86A84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36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92DEE13-E216-897A-D607-718448E05A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1412776"/>
            <a:ext cx="4998987" cy="5226774"/>
          </a:xfrm>
          <a:prstGeom prst="rect">
            <a:avLst/>
          </a:prstGeom>
          <a:noFill/>
          <a:ln w="12700">
            <a:solidFill>
              <a:srgbClr val="005797"/>
            </a:solidFill>
          </a:ln>
        </p:spPr>
      </p:pic>
    </p:spTree>
    <p:extLst>
      <p:ext uri="{BB962C8B-B14F-4D97-AF65-F5344CB8AC3E}">
        <p14:creationId xmlns:p14="http://schemas.microsoft.com/office/powerpoint/2010/main" val="12671436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BD4DE-8E1B-E0D1-9D85-6163291CD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883B28-A4CD-8F66-AA80-7F25521E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49D990-B75D-3F80-5C19-8A6C31FF4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Logitech G HUB</a:t>
            </a:r>
          </a:p>
          <a:p>
            <a:r>
              <a:rPr lang="pt-BR" dirty="0"/>
              <a:t>Logitech </a:t>
            </a:r>
            <a:r>
              <a:rPr lang="pt-BR" dirty="0" err="1"/>
              <a:t>Gaming</a:t>
            </a:r>
            <a:r>
              <a:rPr lang="pt-BR" dirty="0"/>
              <a:t> SDK</a:t>
            </a:r>
          </a:p>
          <a:p>
            <a:pPr lvl="1"/>
            <a:r>
              <a:rPr lang="pt-BR" dirty="0"/>
              <a:t>Erro de DLL</a:t>
            </a:r>
          </a:p>
          <a:p>
            <a:pPr lvl="1"/>
            <a:r>
              <a:rPr lang="pt-BR" dirty="0"/>
              <a:t>Maximilian </a:t>
            </a:r>
            <a:r>
              <a:rPr lang="pt-BR" dirty="0" err="1"/>
              <a:t>Senten</a:t>
            </a:r>
            <a:r>
              <a:rPr lang="pt-BR" dirty="0"/>
              <a:t> (2025)</a:t>
            </a:r>
          </a:p>
          <a:p>
            <a:r>
              <a:rPr lang="pt-BR" dirty="0"/>
              <a:t>Normalização de dados</a:t>
            </a:r>
          </a:p>
          <a:p>
            <a:pPr lvl="1"/>
            <a:r>
              <a:rPr lang="pt-BR" dirty="0"/>
              <a:t>De -32.768 a 32.767 para -1 a 1 e 0 a 1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6F37A8-CD28-7333-96F1-A6557E3AC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2864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0AA71-1D50-1641-9FF1-556D79FA9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B2D1B4-112E-D85C-A0CE-BBEC9E03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9B38A5-6BCA-AEF3-F027-71A8E05BE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Logitech </a:t>
            </a:r>
            <a:r>
              <a:rPr lang="pt-BR" dirty="0" err="1"/>
              <a:t>Gaming</a:t>
            </a:r>
            <a:r>
              <a:rPr lang="pt-BR" dirty="0"/>
              <a:t> SDK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9E0ADD34-38BB-E1DC-0E4E-D261F9E8E1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9929118"/>
              </p:ext>
            </p:extLst>
          </p:nvPr>
        </p:nvGraphicFramePr>
        <p:xfrm>
          <a:off x="457200" y="2301184"/>
          <a:ext cx="825188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4600">
                  <a:extLst>
                    <a:ext uri="{9D8B030D-6E8A-4147-A177-3AD203B41FA5}">
                      <a16:colId xmlns:a16="http://schemas.microsoft.com/office/drawing/2014/main" val="3514356728"/>
                    </a:ext>
                  </a:extLst>
                </a:gridCol>
                <a:gridCol w="2508863">
                  <a:extLst>
                    <a:ext uri="{9D8B030D-6E8A-4147-A177-3AD203B41FA5}">
                      <a16:colId xmlns:a16="http://schemas.microsoft.com/office/drawing/2014/main" val="305489405"/>
                    </a:ext>
                  </a:extLst>
                </a:gridCol>
                <a:gridCol w="3428422">
                  <a:extLst>
                    <a:ext uri="{9D8B030D-6E8A-4147-A177-3AD203B41FA5}">
                      <a16:colId xmlns:a16="http://schemas.microsoft.com/office/drawing/2014/main" val="28249744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Recurso do SDK</a:t>
                      </a:r>
                    </a:p>
                  </a:txBody>
                  <a:tcPr>
                    <a:solidFill>
                      <a:srgbClr val="0057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Efeito de [...]</a:t>
                      </a:r>
                    </a:p>
                  </a:txBody>
                  <a:tcPr>
                    <a:solidFill>
                      <a:srgbClr val="0057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Área</a:t>
                      </a:r>
                      <a:r>
                        <a:rPr lang="en-US" dirty="0"/>
                        <a:t> de </a:t>
                      </a:r>
                      <a:r>
                        <a:rPr lang="en-US" dirty="0" err="1"/>
                        <a:t>atuação</a:t>
                      </a:r>
                      <a:endParaRPr lang="pt-BR" dirty="0"/>
                    </a:p>
                  </a:txBody>
                  <a:tcPr>
                    <a:solidFill>
                      <a:srgbClr val="0057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67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Spring Force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travamento do volante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Mola</a:t>
                      </a:r>
                      <a:endParaRPr lang="pt-BR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575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 err="1"/>
                        <a:t>Damper</a:t>
                      </a:r>
                      <a:r>
                        <a:rPr lang="pt-BR" dirty="0"/>
                        <a:t> 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direção elétrica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Amortecedor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15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 err="1"/>
                        <a:t>Dirt</a:t>
                      </a:r>
                      <a:r>
                        <a:rPr lang="pt-BR" dirty="0"/>
                        <a:t> Road </a:t>
                      </a:r>
                      <a:r>
                        <a:rPr lang="pt-BR" dirty="0" err="1"/>
                        <a:t>Effect</a:t>
                      </a:r>
                      <a:endParaRPr lang="pt-BR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estrada de barro</a:t>
                      </a:r>
                    </a:p>
                  </a:txBody>
                  <a:tcPr>
                    <a:solidFill>
                      <a:srgbClr val="CD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Tremor/</a:t>
                      </a:r>
                      <a:r>
                        <a:rPr lang="en-US" dirty="0" err="1"/>
                        <a:t>vibra</a:t>
                      </a:r>
                      <a:r>
                        <a:rPr lang="pt-BR" dirty="0" err="1"/>
                        <a:t>ção</a:t>
                      </a:r>
                      <a:endParaRPr lang="pt-BR" dirty="0"/>
                    </a:p>
                  </a:txBody>
                  <a:tcPr>
                    <a:solidFill>
                      <a:srgbClr val="CD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441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Slippery</a:t>
                      </a:r>
                      <a:r>
                        <a:rPr lang="pt-BR" dirty="0"/>
                        <a:t> Road </a:t>
                      </a:r>
                      <a:r>
                        <a:rPr lang="pt-BR" dirty="0" err="1"/>
                        <a:t>Effect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estrada escorregadia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Falta de aderência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828"/>
                  </a:ext>
                </a:extLst>
              </a:tr>
            </a:tbl>
          </a:graphicData>
        </a:graphic>
      </p:graphicFrame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DF8523C-7EC2-B444-5C7B-D16F6EB8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38</a:t>
            </a:fld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5DD653D-853D-9CDC-2F44-9EED6E0F5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507361"/>
            <a:ext cx="3157869" cy="1854200"/>
          </a:xfrm>
          <a:prstGeom prst="rect">
            <a:avLst/>
          </a:prstGeom>
          <a:ln w="12700">
            <a:solidFill>
              <a:srgbClr val="005797"/>
            </a:solidFill>
          </a:ln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8096BEB2-5709-C434-41C0-EA26F78FFEAB}"/>
              </a:ext>
            </a:extLst>
          </p:cNvPr>
          <p:cNvSpPr/>
          <p:nvPr/>
        </p:nvSpPr>
        <p:spPr>
          <a:xfrm>
            <a:off x="3761720" y="4341313"/>
            <a:ext cx="4925079" cy="2156321"/>
          </a:xfrm>
          <a:prstGeom prst="rect">
            <a:avLst/>
          </a:prstGeom>
          <a:solidFill>
            <a:schemeClr val="bg1"/>
          </a:solidFill>
          <a:ln w="12700">
            <a:solidFill>
              <a:srgbClr val="0057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CFD6AF42-3633-172C-C338-2692DF1121A8}"/>
              </a:ext>
            </a:extLst>
          </p:cNvPr>
          <p:cNvSpPr txBox="1"/>
          <p:nvPr/>
        </p:nvSpPr>
        <p:spPr>
          <a:xfrm>
            <a:off x="3761719" y="4264469"/>
            <a:ext cx="5013276" cy="226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LogitechGSDK.LogiPlaySpringForce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LogitechGSDK.LogiPlayDamperForce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LogitechGSDK.LogiPlayDirtRoadEffect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LogitechGSDK.LogiPlaySlipperyRoadEffect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LogitechGSDK.LogiPlaySideCollisionForce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LogitechGSDK.LogiPlayFrontalCollisionForce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020722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dos Resultados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Testes com </a:t>
            </a:r>
            <a:r>
              <a:rPr lang="en-US" dirty="0" err="1"/>
              <a:t>usuários</a:t>
            </a:r>
            <a:endParaRPr lang="en-US" dirty="0"/>
          </a:p>
          <a:p>
            <a:r>
              <a:rPr lang="en-US" dirty="0"/>
              <a:t>Pesquisa via Google Forms</a:t>
            </a:r>
          </a:p>
          <a:p>
            <a:pPr lvl="1"/>
            <a:r>
              <a:rPr lang="pt-BR" dirty="0"/>
              <a:t>22 perguntas</a:t>
            </a:r>
          </a:p>
          <a:p>
            <a:pPr lvl="2"/>
            <a:r>
              <a:rPr lang="pt-BR" dirty="0"/>
              <a:t>21 objetivas</a:t>
            </a:r>
          </a:p>
          <a:p>
            <a:pPr lvl="2"/>
            <a:r>
              <a:rPr lang="pt-BR" dirty="0"/>
              <a:t>1 descritiva</a:t>
            </a:r>
          </a:p>
          <a:p>
            <a:pPr lvl="1"/>
            <a:r>
              <a:rPr lang="pt-BR" dirty="0"/>
              <a:t>Análise do perfil dos participantes</a:t>
            </a:r>
          </a:p>
          <a:p>
            <a:pPr lvl="1"/>
            <a:r>
              <a:rPr lang="pt-BR" dirty="0"/>
              <a:t>Experiência no simulador</a:t>
            </a:r>
          </a:p>
          <a:p>
            <a:r>
              <a:rPr lang="pt-BR" dirty="0"/>
              <a:t>Aprendizagem ativa de habilidades motoras 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CD8FC4C-3162-4024-2107-D54FD1ECD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219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FBED3-F474-D4EC-FAB1-FCB97ACB9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D852EF-1C20-CAE0-6D7A-BDEA2E487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dos Resultados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8F7DBC-EEFC-3C18-0D39-27A16304A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Você considera que o simulador contribui para o treinamento de condução e </a:t>
            </a:r>
            <a:r>
              <a:rPr lang="pt-BR" dirty="0" err="1"/>
              <a:t>manobragem</a:t>
            </a:r>
            <a:r>
              <a:rPr lang="pt-BR" dirty="0"/>
              <a:t> de veículos?</a:t>
            </a:r>
          </a:p>
          <a:p>
            <a:endParaRPr lang="pt-BR" dirty="0"/>
          </a:p>
          <a:p>
            <a:r>
              <a:rPr lang="pt-BR" dirty="0"/>
              <a:t>Não contribui - 0%</a:t>
            </a:r>
          </a:p>
          <a:p>
            <a:r>
              <a:rPr lang="pt-BR" dirty="0"/>
              <a:t>Contribui muito pouco - 6,7%</a:t>
            </a:r>
          </a:p>
          <a:p>
            <a:r>
              <a:rPr lang="pt-BR" dirty="0"/>
              <a:t>Contribui moderadamente - 13,3%</a:t>
            </a:r>
          </a:p>
          <a:p>
            <a:r>
              <a:rPr lang="pt-BR" dirty="0"/>
              <a:t>Contribui bastante - 40%</a:t>
            </a:r>
          </a:p>
          <a:p>
            <a:r>
              <a:rPr lang="pt-BR" dirty="0"/>
              <a:t>Contribui de forma muito significativa - 40%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651D22-32CB-EFEB-DA4D-674CFF0D1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20074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E7B79-6439-5BD2-7897-543AAAFD4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ECB4C0-AD20-D088-C003-B4CCACE7C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dos Resultados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3135E40-E794-24C3-50F9-5C488FBC5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Comparação com trabalhos correlatos:</a:t>
            </a:r>
          </a:p>
          <a:p>
            <a:pPr lvl="1"/>
            <a:r>
              <a:rPr lang="pt-BR" dirty="0"/>
              <a:t>Maior variedade de ambientes</a:t>
            </a:r>
          </a:p>
          <a:p>
            <a:pPr lvl="1"/>
            <a:r>
              <a:rPr lang="pt-BR" dirty="0"/>
              <a:t>Ausência de óculos de Realidade Virtual</a:t>
            </a:r>
          </a:p>
          <a:p>
            <a:pPr lvl="1"/>
            <a:r>
              <a:rPr lang="pt-BR" dirty="0"/>
              <a:t>Limitação de periféricos e feedbacks táteis</a:t>
            </a:r>
            <a:endParaRPr lang="en-US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34A9230-9664-6E43-429C-1FD88BFA9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33999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Conclusões e Sugestões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Experiência de condução</a:t>
            </a:r>
          </a:p>
          <a:p>
            <a:r>
              <a:rPr lang="pt-BR" dirty="0"/>
              <a:t>Realismo da dirigibilidade e a responsividade</a:t>
            </a:r>
          </a:p>
          <a:p>
            <a:r>
              <a:rPr lang="pt-BR" dirty="0"/>
              <a:t>Capacidade de gerar aprendizado prático de direção</a:t>
            </a:r>
          </a:p>
          <a:p>
            <a:r>
              <a:rPr lang="pt-BR" dirty="0"/>
              <a:t>Feedbacks táteis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36593E-C98C-63D8-B2A1-338E69D36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35390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351F-DA93-0C1C-9EAC-2A743BB2C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0AF662-EFCC-12FC-69A8-7C0CAD7AC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Conclusões e Sugestões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49C2746-37E6-CA12-8776-6D820EA14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Sugestões:</a:t>
            </a:r>
          </a:p>
          <a:p>
            <a:pPr lvl="1"/>
            <a:r>
              <a:rPr lang="pt-BR" dirty="0"/>
              <a:t>Fidelidade dos ambientes 3D em RV</a:t>
            </a:r>
          </a:p>
          <a:p>
            <a:pPr lvl="1"/>
            <a:r>
              <a:rPr lang="pt-BR" dirty="0"/>
              <a:t>Jogabilidade do carro mais próxima do real, espelhos retrovisores laterais, pisca-alerta e feedbacks sonoros como motor e buzina</a:t>
            </a:r>
            <a:endParaRPr lang="en-US" dirty="0"/>
          </a:p>
          <a:p>
            <a:pPr lvl="1"/>
            <a:r>
              <a:rPr lang="pt-BR" dirty="0"/>
              <a:t>Rotatórias, mudanças de faixa e sinalizações diversas</a:t>
            </a:r>
          </a:p>
          <a:p>
            <a:pPr lvl="1"/>
            <a:r>
              <a:rPr lang="pt-BR" dirty="0"/>
              <a:t>Suporte para RV imersiva com óculos de RV</a:t>
            </a:r>
          </a:p>
          <a:p>
            <a:pPr lvl="1"/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FA90B71-2F76-54FA-BE3F-785E677D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7286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92004-A6AB-4BA7-869A-90D314242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745B70-776F-FD07-4820-AB6DF5FCD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lang="pt-BR" dirty="0"/>
              <a:t>Obrigado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146751F-2E76-38CA-384E-4D8B8D8B4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8E297-6CBE-4718-A55E-559A2615A1B7}" type="slidenum">
              <a:rPr lang="pt-BR" smtClean="0"/>
              <a:pPr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10630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3167</TotalTime>
  <Words>1566</Words>
  <Application>Microsoft Office PowerPoint</Application>
  <PresentationFormat>Apresentação na tela (4:3)</PresentationFormat>
  <Paragraphs>430</Paragraphs>
  <Slides>44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44</vt:i4>
      </vt:variant>
    </vt:vector>
  </HeadingPairs>
  <TitlesOfParts>
    <vt:vector size="49" baseType="lpstr">
      <vt:lpstr>Arial</vt:lpstr>
      <vt:lpstr>Calibri</vt:lpstr>
      <vt:lpstr>Courier New</vt:lpstr>
      <vt:lpstr>Times New Roman</vt:lpstr>
      <vt:lpstr>Design padrão</vt:lpstr>
      <vt:lpstr>JOGO SIMULADOR DE DIREÇÃO VEICULAR EM REALIDADE VIRTUAL COM CONTROLE POR VOLANTE</vt:lpstr>
      <vt:lpstr>Roteiro</vt:lpstr>
      <vt:lpstr>Introdução</vt:lpstr>
      <vt:lpstr>Objetivos</vt:lpstr>
      <vt:lpstr>Objetivos</vt:lpstr>
      <vt:lpstr>Fundamentação Teórica</vt:lpstr>
      <vt:lpstr>Trabalhos Correlatos</vt:lpstr>
      <vt:lpstr>Trabalhos Correlatos</vt:lpstr>
      <vt:lpstr>Trabalhos Correlatos</vt:lpstr>
      <vt:lpstr>Requisitos Funcionais</vt:lpstr>
      <vt:lpstr>Requisitos Funcionais</vt:lpstr>
      <vt:lpstr>Requisitos Não Funcionais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Especificação</vt:lpstr>
      <vt:lpstr>Implementação</vt:lpstr>
      <vt:lpstr>Implementação</vt:lpstr>
      <vt:lpstr>Implementação</vt:lpstr>
      <vt:lpstr>Implementação</vt:lpstr>
      <vt:lpstr>Implementação</vt:lpstr>
      <vt:lpstr>Implementação</vt:lpstr>
      <vt:lpstr>Implementação</vt:lpstr>
      <vt:lpstr>Implementação</vt:lpstr>
      <vt:lpstr>Implementação</vt:lpstr>
      <vt:lpstr>Análise dos Resultados</vt:lpstr>
      <vt:lpstr>Análise dos Resultados</vt:lpstr>
      <vt:lpstr>Análise dos Resultados</vt:lpstr>
      <vt:lpstr>Conclusões e Sugestões</vt:lpstr>
      <vt:lpstr>Conclusões e Sugestões</vt:lpstr>
      <vt:lpstr>Obrigado</vt:lpstr>
    </vt:vector>
  </TitlesOfParts>
  <Company>FURB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Seção de Apoio ao Usuário</dc:creator>
  <cp:lastModifiedBy>Gustavo Baroni Bruder</cp:lastModifiedBy>
  <cp:revision>391</cp:revision>
  <dcterms:created xsi:type="dcterms:W3CDTF">2012-05-08T00:10:24Z</dcterms:created>
  <dcterms:modified xsi:type="dcterms:W3CDTF">2026-07-06T03:40:37Z</dcterms:modified>
</cp:coreProperties>
</file>