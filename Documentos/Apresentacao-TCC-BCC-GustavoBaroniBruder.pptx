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9" r:id="rId6"/>
    <p:sldId id="261" r:id="rId7"/>
    <p:sldId id="262" r:id="rId8"/>
    <p:sldId id="270" r:id="rId9"/>
    <p:sldId id="271" r:id="rId10"/>
    <p:sldId id="263" r:id="rId11"/>
    <p:sldId id="282" r:id="rId12"/>
    <p:sldId id="272" r:id="rId13"/>
    <p:sldId id="281" r:id="rId14"/>
    <p:sldId id="280" r:id="rId15"/>
    <p:sldId id="276" r:id="rId16"/>
    <p:sldId id="277" r:id="rId17"/>
    <p:sldId id="278" r:id="rId18"/>
    <p:sldId id="279" r:id="rId19"/>
    <p:sldId id="273" r:id="rId20"/>
    <p:sldId id="274" r:id="rId21"/>
    <p:sldId id="275" r:id="rId22"/>
    <p:sldId id="283" r:id="rId23"/>
    <p:sldId id="285" r:id="rId24"/>
    <p:sldId id="286" r:id="rId25"/>
    <p:sldId id="287" r:id="rId26"/>
    <p:sldId id="267" r:id="rId27"/>
    <p:sldId id="289" r:id="rId28"/>
    <p:sldId id="288" r:id="rId29"/>
    <p:sldId id="268" r:id="rId30"/>
    <p:sldId id="291" r:id="rId31"/>
    <p:sldId id="290" r:id="rId32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Capobianco Lopes" userId="e2602793-81ee-4f40-ac4e-f7a7f9d1e175" providerId="ADAL" clId="{7F704396-5C0A-4773-8443-574AD5DF6845}"/>
    <pc:docChg chg="modSld">
      <pc:chgData name="Mauricio Capobianco Lopes" userId="e2602793-81ee-4f40-ac4e-f7a7f9d1e175" providerId="ADAL" clId="{7F704396-5C0A-4773-8443-574AD5DF6845}" dt="2020-02-27T15:12:44.677" v="4" actId="20577"/>
      <pc:docMkLst>
        <pc:docMk/>
      </pc:docMkLst>
      <pc:sldChg chg="modSp">
        <pc:chgData name="Mauricio Capobianco Lopes" userId="e2602793-81ee-4f40-ac4e-f7a7f9d1e175" providerId="ADAL" clId="{7F704396-5C0A-4773-8443-574AD5DF6845}" dt="2020-02-27T15:12:35.257" v="1" actId="20577"/>
        <pc:sldMkLst>
          <pc:docMk/>
          <pc:sldMk cId="2489010789" sldId="261"/>
        </pc:sldMkLst>
        <pc:spChg chg="mod">
          <ac:chgData name="Mauricio Capobianco Lopes" userId="e2602793-81ee-4f40-ac4e-f7a7f9d1e175" providerId="ADAL" clId="{7F704396-5C0A-4773-8443-574AD5DF6845}" dt="2020-02-27T15:12:35.257" v="1" actId="20577"/>
          <ac:spMkLst>
            <pc:docMk/>
            <pc:sldMk cId="2489010789" sldId="261"/>
            <ac:spMk id="3" creationId="{00000000-0000-0000-0000-000000000000}"/>
          </ac:spMkLst>
        </pc:spChg>
      </pc:sldChg>
      <pc:sldChg chg="modSp">
        <pc:chgData name="Mauricio Capobianco Lopes" userId="e2602793-81ee-4f40-ac4e-f7a7f9d1e175" providerId="ADAL" clId="{7F704396-5C0A-4773-8443-574AD5DF6845}" dt="2020-02-27T15:12:44.677" v="4" actId="20577"/>
        <pc:sldMkLst>
          <pc:docMk/>
          <pc:sldMk cId="1958979546" sldId="262"/>
        </pc:sldMkLst>
        <pc:spChg chg="mod">
          <ac:chgData name="Mauricio Capobianco Lopes" userId="e2602793-81ee-4f40-ac4e-f7a7f9d1e175" providerId="ADAL" clId="{7F704396-5C0A-4773-8443-574AD5DF6845}" dt="2020-02-27T15:12:44.677" v="4" actId="20577"/>
          <ac:spMkLst>
            <pc:docMk/>
            <pc:sldMk cId="1958979546" sldId="262"/>
            <ac:spMk id="3" creationId="{00000000-0000-0000-0000-000000000000}"/>
          </ac:spMkLst>
        </pc:spChg>
      </pc:sldChg>
    </pc:docChg>
  </pc:docChgLst>
  <pc:docChgLst>
    <pc:chgData name="Mauricio Capobianco Lopes" userId="e2602793-81ee-4f40-ac4e-f7a7f9d1e175" providerId="ADAL" clId="{5E4B7503-6885-43C1-8A95-77DFDBD689BD}"/>
    <pc:docChg chg="custSel modSld">
      <pc:chgData name="Mauricio Capobianco Lopes" userId="e2602793-81ee-4f40-ac4e-f7a7f9d1e175" providerId="ADAL" clId="{5E4B7503-6885-43C1-8A95-77DFDBD689BD}" dt="2019-11-21T21:38:28.451" v="70" actId="20577"/>
      <pc:docMkLst>
        <pc:docMk/>
      </pc:docMkLst>
      <pc:sldChg chg="modSp">
        <pc:chgData name="Mauricio Capobianco Lopes" userId="e2602793-81ee-4f40-ac4e-f7a7f9d1e175" providerId="ADAL" clId="{5E4B7503-6885-43C1-8A95-77DFDBD689BD}" dt="2019-11-21T21:38:28.451" v="70" actId="20577"/>
        <pc:sldMkLst>
          <pc:docMk/>
          <pc:sldMk cId="2007070856" sldId="264"/>
        </pc:sldMkLst>
        <pc:spChg chg="mod">
          <ac:chgData name="Mauricio Capobianco Lopes" userId="e2602793-81ee-4f40-ac4e-f7a7f9d1e175" providerId="ADAL" clId="{5E4B7503-6885-43C1-8A95-77DFDBD689BD}" dt="2019-11-21T21:38:28.451" v="70" actId="20577"/>
          <ac:spMkLst>
            <pc:docMk/>
            <pc:sldMk cId="2007070856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751E00-8267-4604-A477-06D690F3831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20"/>
          </a:xfrm>
        </p:spPr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8E297-6CBE-4718-A55E-559A2615A1B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56A142-61B5-4E3D-90E3-37CCCA5B8200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46EF70-771F-4125-BD92-2CF85D34D26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55F65-09CC-47BE-B43C-09A283D2E9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02316F-EB17-4252-8A8C-611AED72FBAB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138E0-A9D7-4867-995F-585EB895710D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F3198-B843-4265-ABF0-65946D3BF37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879FC-8726-479C-A2CE-57C987F54908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B5B2E-7B09-42BA-B78A-718198AF402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A41635-D202-4D10-8FA9-DA258B96F66E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277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F5D6D9-064D-480F-AE44-1D22C9D85F98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536" y="1501775"/>
            <a:ext cx="8352928" cy="1470025"/>
          </a:xfrm>
        </p:spPr>
        <p:txBody>
          <a:bodyPr/>
          <a:lstStyle/>
          <a:p>
            <a:r>
              <a:rPr lang="pt-BR" dirty="0"/>
              <a:t>JOGO SIMULADOR DE DIREÇÃO VEICULAR EM REALIDADE VIRTUAL COM CONTROLE POR VOLANTE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Aluno: Gustavo Baroni Bruder</a:t>
            </a:r>
          </a:p>
          <a:p>
            <a:endParaRPr lang="pt-BR" dirty="0"/>
          </a:p>
          <a:p>
            <a:r>
              <a:rPr lang="pt-BR" dirty="0"/>
              <a:t>Orientador: Dalton Solano dos Reis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Introdução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Objetivos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dirty="0"/>
              <a:t>Principal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dirty="0"/>
              <a:t>Específicos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Fundamentação Teórica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Trabalhos Correlatos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dirty="0"/>
              <a:t>Kuhn (2019)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dirty="0"/>
              <a:t>Fonseca (2022)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dirty="0"/>
              <a:t>Gervasio (2021)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Requisitos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Especificação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Implementação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Análise dos Resultados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Conclusões e Sugestões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99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Trânsito urbano envolve riscos frequentes</a:t>
            </a:r>
          </a:p>
          <a:p>
            <a:r>
              <a:rPr lang="pt-BR" dirty="0"/>
              <a:t>Aproximadamente 1,3 milhão de pessoas morrem no trânsito anualmente (OMS, 2020)</a:t>
            </a:r>
          </a:p>
          <a:p>
            <a:r>
              <a:rPr lang="pt-BR" dirty="0"/>
              <a:t>Ferramentas capazes de conscientizar e educar motoristas sem exposição a riscos reais</a:t>
            </a:r>
            <a:endParaRPr lang="en-US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919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Objetivo principal: desenvolver um jogo simulador de direção veicular em realidade virtual que represente o contexto urbano, permitindo ao jogador praticar manobras e explorar áreas de estacionamento com suporte a volante físico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695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0BF6-6134-03B7-B4B7-629AE9E42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A65D5-9F68-6573-ED51-91BB783E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654A4B-5C82-EB09-86C2-E7DD9BB56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Objetivos específicos:</a:t>
            </a:r>
          </a:p>
          <a:p>
            <a:pPr lvl="1"/>
            <a:r>
              <a:rPr lang="pt-BR" dirty="0"/>
              <a:t>realizar uma representação tridimensional de áreas urbanas e de estacionamento</a:t>
            </a:r>
          </a:p>
          <a:p>
            <a:pPr lvl="1"/>
            <a:r>
              <a:rPr lang="pt-BR" dirty="0"/>
              <a:t>implementar a mecânica de direção e estacionamento com suporte a volante compatível com o jogo</a:t>
            </a:r>
          </a:p>
          <a:p>
            <a:pPr lvl="1"/>
            <a:r>
              <a:rPr lang="pt-BR" dirty="0"/>
              <a:t>desenvolver um sistema de desafios ao jogador envolvendo pedestres, semáforos, limites de velocidade, vagas de estacionamento, entre outros</a:t>
            </a:r>
          </a:p>
          <a:p>
            <a:pPr lvl="1"/>
            <a:r>
              <a:rPr lang="pt-BR" dirty="0"/>
              <a:t>realizar testes com usuários para avaliar aspectos de usabilidade, imersão e controle do simulador</a:t>
            </a:r>
          </a:p>
          <a:p>
            <a:pPr lvl="1"/>
            <a:r>
              <a:rPr lang="pt-BR" dirty="0"/>
              <a:t>analisar as possíveis aplicações do jogo em contextos como treinamento de motoristas e simulações urbanas</a:t>
            </a:r>
          </a:p>
        </p:txBody>
      </p:sp>
    </p:spTree>
    <p:extLst>
      <p:ext uri="{BB962C8B-B14F-4D97-AF65-F5344CB8AC3E}">
        <p14:creationId xmlns:p14="http://schemas.microsoft.com/office/powerpoint/2010/main" val="169146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Realidade Virtual</a:t>
            </a:r>
          </a:p>
          <a:p>
            <a:pPr lvl="1"/>
            <a:r>
              <a:rPr lang="pt-BR" dirty="0"/>
              <a:t>Espaço de aprendizagem sem riscos</a:t>
            </a:r>
          </a:p>
          <a:p>
            <a:r>
              <a:rPr lang="pt-BR" dirty="0"/>
              <a:t>Simuladores de direção</a:t>
            </a:r>
          </a:p>
          <a:p>
            <a:pPr lvl="1"/>
            <a:r>
              <a:rPr lang="pt-BR" dirty="0"/>
              <a:t>Níveis de realismo e fidelidade</a:t>
            </a:r>
          </a:p>
          <a:p>
            <a:pPr lvl="1"/>
            <a:r>
              <a:rPr lang="pt-BR" dirty="0"/>
              <a:t>Replicação de situações perigosas sem risco</a:t>
            </a:r>
          </a:p>
          <a:p>
            <a:r>
              <a:rPr lang="pt-BR" dirty="0"/>
              <a:t>Dispositivos de interação e volantes</a:t>
            </a:r>
          </a:p>
          <a:p>
            <a:pPr lvl="1"/>
            <a:r>
              <a:rPr lang="pt-BR" dirty="0"/>
              <a:t>Replicar comportamentos mecânicos</a:t>
            </a:r>
          </a:p>
          <a:p>
            <a:pPr lvl="1"/>
            <a:r>
              <a:rPr lang="pt-BR" dirty="0"/>
              <a:t>Feedback tátil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901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Kuhn (2019)</a:t>
            </a:r>
          </a:p>
          <a:p>
            <a:pPr lvl="1"/>
            <a:r>
              <a:rPr lang="pt-BR" dirty="0"/>
              <a:t>Desenvolver um simulador automotivo em realidade virtual, voltado à preparação de pilotos para o Baja</a:t>
            </a:r>
          </a:p>
          <a:p>
            <a:pPr lvl="1"/>
            <a:r>
              <a:rPr lang="pt-BR" dirty="0"/>
              <a:t>Simulação de direção off-</a:t>
            </a:r>
            <a:r>
              <a:rPr lang="pt-BR" dirty="0" err="1"/>
              <a:t>road</a:t>
            </a:r>
            <a:r>
              <a:rPr lang="pt-BR" dirty="0"/>
              <a:t>, ambiente imersivo em realidade virtual e interação com volante</a:t>
            </a:r>
          </a:p>
          <a:p>
            <a:pPr lvl="1"/>
            <a:r>
              <a:rPr lang="en-US" dirty="0"/>
              <a:t>VR Box, volante X360 e </a:t>
            </a:r>
            <a:r>
              <a:rPr lang="pt-BR" dirty="0"/>
              <a:t>Unity</a:t>
            </a:r>
          </a:p>
        </p:txBody>
      </p:sp>
    </p:spTree>
    <p:extLst>
      <p:ext uri="{BB962C8B-B14F-4D97-AF65-F5344CB8AC3E}">
        <p14:creationId xmlns:p14="http://schemas.microsoft.com/office/powerpoint/2010/main" val="195897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5493-FD44-7F81-EAD4-8FF4A282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41640-5B9F-828E-3878-8EB17D05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E230E-599C-583A-4DD6-973EB01D8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Fonseca (2022)</a:t>
            </a:r>
          </a:p>
          <a:p>
            <a:pPr lvl="1"/>
            <a:r>
              <a:rPr lang="pt-BR" dirty="0"/>
              <a:t>Implementar um simulador 3D de empilhadeira </a:t>
            </a:r>
            <a:r>
              <a:rPr lang="pt-BR" dirty="0" err="1"/>
              <a:t>Reach</a:t>
            </a:r>
            <a:r>
              <a:rPr lang="pt-BR" dirty="0"/>
              <a:t> </a:t>
            </a:r>
            <a:r>
              <a:rPr lang="pt-BR" dirty="0" err="1"/>
              <a:t>Stacker</a:t>
            </a:r>
            <a:r>
              <a:rPr lang="pt-BR" dirty="0"/>
              <a:t> com fases e tarefas para treinamento e reciclagem de operadores</a:t>
            </a:r>
          </a:p>
          <a:p>
            <a:pPr lvl="1"/>
            <a:r>
              <a:rPr lang="pt-BR" dirty="0"/>
              <a:t>Cockpit com volante e pedais, interface com indicadores e cronômetro e feedback das tarefas realizadas</a:t>
            </a:r>
          </a:p>
          <a:p>
            <a:pPr lvl="1"/>
            <a:r>
              <a:rPr lang="pt-BR" dirty="0"/>
              <a:t>Unity, volante e pedal Logitech G29</a:t>
            </a:r>
          </a:p>
        </p:txBody>
      </p:sp>
    </p:spTree>
    <p:extLst>
      <p:ext uri="{BB962C8B-B14F-4D97-AF65-F5344CB8AC3E}">
        <p14:creationId xmlns:p14="http://schemas.microsoft.com/office/powerpoint/2010/main" val="426128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73CB1-023A-8265-41C4-D078B63A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333AA-1C3B-FDF8-CB66-89A93EA0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DE8776-272F-F537-B47F-00BFC68B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Gervasio (2021)</a:t>
            </a:r>
          </a:p>
          <a:p>
            <a:pPr lvl="1"/>
            <a:r>
              <a:rPr lang="pt-BR" dirty="0"/>
              <a:t>Criar um simulador de direção para ensino prático em ambiente virtual controlado, especialmente durante a pandemia de COVID-19</a:t>
            </a:r>
          </a:p>
          <a:p>
            <a:pPr lvl="1"/>
            <a:r>
              <a:rPr lang="pt-BR" dirty="0"/>
              <a:t>Cenários diversos (urbano, suburbano e rural) com elementos básicos de trânsito, carros autônomos com lógica de tráfego, feedback de movimentação com motores e sensores</a:t>
            </a:r>
          </a:p>
          <a:p>
            <a:pPr lvl="1"/>
            <a:r>
              <a:rPr lang="pt-BR" dirty="0"/>
              <a:t>Unreal </a:t>
            </a:r>
            <a:r>
              <a:rPr lang="pt-BR" dirty="0" err="1"/>
              <a:t>Engine</a:t>
            </a:r>
            <a:r>
              <a:rPr lang="pt-BR" dirty="0"/>
              <a:t>, Arduino Mega 2560, volante, pedais e câmbio Logitech e Módulo BTS7960</a:t>
            </a:r>
          </a:p>
        </p:txBody>
      </p:sp>
    </p:spTree>
    <p:extLst>
      <p:ext uri="{BB962C8B-B14F-4D97-AF65-F5344CB8AC3E}">
        <p14:creationId xmlns:p14="http://schemas.microsoft.com/office/powerpoint/2010/main" val="122025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graphicFrame>
        <p:nvGraphicFramePr>
          <p:cNvPr id="12" name="Espaço Reservado para Conteúdo 3">
            <a:extLst>
              <a:ext uri="{FF2B5EF4-FFF2-40B4-BE49-F238E27FC236}">
                <a16:creationId xmlns:a16="http://schemas.microsoft.com/office/drawing/2014/main" id="{DB328E8A-9CC2-97D5-6C67-C4C7BD737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624"/>
              </p:ext>
            </p:extLst>
          </p:nvPr>
        </p:nvGraphicFramePr>
        <p:xfrm>
          <a:off x="457200" y="1412875"/>
          <a:ext cx="8251884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3514356728"/>
                    </a:ext>
                  </a:extLst>
                </a:gridCol>
                <a:gridCol w="7233428">
                  <a:extLst>
                    <a:ext uri="{9D8B030D-6E8A-4147-A177-3AD203B41FA5}">
                      <a16:colId xmlns:a16="http://schemas.microsoft.com/office/drawing/2014/main" val="30548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simulador deve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[…]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permitir a seleção do carro jogável.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7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permitir a seleção entre fases de trânsito, estacionamento e corrida.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5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sortear aleatoriamente a vaga onde o usuário deverá estacionar.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44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gerar carros estacionados aleatoriamente nas demais vagas do ambiente.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sincronizar o volante virtual com o volante físico.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ler individualmente pedais de embreagem, freio e acelerador.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2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apresentar um cronômetro durante a execução da fase.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0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apresentar o número de colisões realizadas pelo usuário.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9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apresentar o número de infrações de trânsito realizadas pelo usuário.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48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apresentar o velocímetro e conta-giros.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9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apresentar o espelho retrovisor central.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93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RF12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um sistema de cinto de segurança (colocar e retirar).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81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64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5C6C-3E53-AEEF-7BFD-5B25B54E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AF126-7E08-CB30-F091-8CFA4AE1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graphicFrame>
        <p:nvGraphicFramePr>
          <p:cNvPr id="12" name="Espaço Reservado para Conteúdo 3">
            <a:extLst>
              <a:ext uri="{FF2B5EF4-FFF2-40B4-BE49-F238E27FC236}">
                <a16:creationId xmlns:a16="http://schemas.microsoft.com/office/drawing/2014/main" id="{E481CB6B-CF8A-2A38-DD01-57606EB11D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392650"/>
              </p:ext>
            </p:extLst>
          </p:nvPr>
        </p:nvGraphicFramePr>
        <p:xfrm>
          <a:off x="457200" y="1412875"/>
          <a:ext cx="8251884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3514356728"/>
                    </a:ext>
                  </a:extLst>
                </a:gridCol>
                <a:gridCol w="7233428">
                  <a:extLst>
                    <a:ext uri="{9D8B030D-6E8A-4147-A177-3AD203B41FA5}">
                      <a16:colId xmlns:a16="http://schemas.microsoft.com/office/drawing/2014/main" val="30548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simulador deve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[…]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RF13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um sistema de motor (ligar e desligar).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7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um sistema de freio de mão (puxado/solto).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5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um sistema de marchas (R, N, 1 a 5).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44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um sistema de faróis.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um sistema luz indicadora de direção (setas).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modos de câmera em primeira e terceira pessoa.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2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permitir a movimentação da câmera (POV) pelo DPAD do volante.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0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permitir controlar o período do dia e a intensidade da chuva.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9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aplicar feedback tátil no volante.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48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apresentar notificações de ações realizadas pelo usuário.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9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RF23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contabilizar o estacionamento corretamente quando o usuário desligar o veículo dentro da vaga correta.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93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RF24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disponibilizar ao jogador o mapa de controles.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81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55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E9A65-9267-E9A4-C8E5-6EDBF5D3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CCB01-BF8B-0935-865D-390E3034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graphicFrame>
        <p:nvGraphicFramePr>
          <p:cNvPr id="5" name="Espaço Reservado para Conteúdo 3">
            <a:extLst>
              <a:ext uri="{FF2B5EF4-FFF2-40B4-BE49-F238E27FC236}">
                <a16:creationId xmlns:a16="http://schemas.microsoft.com/office/drawing/2014/main" id="{3C7F95CC-E249-2B46-4F06-FF3FD7960A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933593"/>
              </p:ext>
            </p:extLst>
          </p:nvPr>
        </p:nvGraphicFramePr>
        <p:xfrm>
          <a:off x="457200" y="1412875"/>
          <a:ext cx="8251884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3514356728"/>
                    </a:ext>
                  </a:extLst>
                </a:gridCol>
                <a:gridCol w="7233428">
                  <a:extLst>
                    <a:ext uri="{9D8B030D-6E8A-4147-A177-3AD203B41FA5}">
                      <a16:colId xmlns:a16="http://schemas.microsoft.com/office/drawing/2014/main" val="30548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simulador deve [...]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ser desenvolvido utilizando Unity.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7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ser desenvolvido na linguagem de programação C#.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5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utilizar o controle Logitech G29 (volante e pedais) como dispositivo de entrada.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44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executar em computadores.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apresentar frame rate estável para garantir imersão e evitar desconforto.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representar visualmente áreas urbanas por meio de modelagem 3D.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2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RNF07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disponibilizar uma experiência imersiva, incluindo elementos de física e interação.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02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82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CD54-AB47-09D0-325A-F6DAC913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203FA-BDB3-C88B-085B-5CC082F4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608C9C9-B035-E300-BC39-5AC971EC4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Diagrama estrutural</a:t>
            </a:r>
          </a:p>
          <a:p>
            <a:r>
              <a:rPr lang="pt-BR" dirty="0"/>
              <a:t>Diagrama comportamental</a:t>
            </a:r>
          </a:p>
          <a:p>
            <a:endParaRPr lang="pt-BR" dirty="0"/>
          </a:p>
          <a:p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760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DB7B-450A-95FE-759F-7844E4AD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B524F-1BCC-C1AF-0124-3E7E207F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74D3640-2F55-15B5-A8FF-6222C3E33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986" y="1196752"/>
            <a:ext cx="4334028" cy="55914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6546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923C-7808-40FE-9B72-3AA6FD70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94FCB-2A9B-3DA5-EA11-3FAE8FA9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AF10C8-F901-7F57-0916-0C30C3D28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Tela menu principal</a:t>
            </a:r>
          </a:p>
          <a:p>
            <a:r>
              <a:rPr lang="pt-BR" dirty="0" err="1"/>
              <a:t>Seleç</a:t>
            </a:r>
            <a:r>
              <a:rPr lang="en-US" dirty="0" err="1"/>
              <a:t>ão</a:t>
            </a:r>
            <a:r>
              <a:rPr lang="en-US" dirty="0"/>
              <a:t> do </a:t>
            </a:r>
            <a:r>
              <a:rPr lang="en-US" dirty="0" err="1"/>
              <a:t>carro</a:t>
            </a:r>
            <a:endParaRPr lang="en-US" dirty="0"/>
          </a:p>
          <a:p>
            <a:r>
              <a:rPr lang="pt-BR" dirty="0" err="1"/>
              <a:t>Seleç</a:t>
            </a:r>
            <a:r>
              <a:rPr lang="en-US" dirty="0" err="1"/>
              <a:t>ão</a:t>
            </a:r>
            <a:r>
              <a:rPr lang="en-US" dirty="0"/>
              <a:t> da </a:t>
            </a:r>
            <a:r>
              <a:rPr lang="en-US" dirty="0" err="1"/>
              <a:t>fase</a:t>
            </a:r>
            <a:endParaRPr lang="en-US" dirty="0"/>
          </a:p>
          <a:p>
            <a:pPr lvl="1"/>
            <a:r>
              <a:rPr lang="pt-BR" dirty="0"/>
              <a:t>Trânsito</a:t>
            </a:r>
          </a:p>
          <a:p>
            <a:pPr lvl="1"/>
            <a:r>
              <a:rPr lang="pt-BR" dirty="0"/>
              <a:t>Estacionamento</a:t>
            </a:r>
          </a:p>
          <a:p>
            <a:pPr lvl="1"/>
            <a:r>
              <a:rPr lang="pt-BR" dirty="0"/>
              <a:t>Corrida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70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57DF-DC29-47F2-9895-3A71784E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F922C-8CB9-BBEC-1D0E-CE2AA631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4E36A5-3429-E838-854D-C16B21104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Fases</a:t>
            </a:r>
            <a:r>
              <a:rPr lang="en-US" dirty="0"/>
              <a:t> de </a:t>
            </a:r>
            <a:r>
              <a:rPr lang="en-US" dirty="0" err="1"/>
              <a:t>trânsito</a:t>
            </a:r>
            <a:endParaRPr lang="en-US" dirty="0"/>
          </a:p>
          <a:p>
            <a:pPr lvl="1"/>
            <a:r>
              <a:rPr lang="pt-BR" dirty="0"/>
              <a:t>Semáforos</a:t>
            </a:r>
          </a:p>
          <a:p>
            <a:pPr lvl="1"/>
            <a:r>
              <a:rPr lang="pt-BR" dirty="0"/>
              <a:t>Pedestres</a:t>
            </a:r>
          </a:p>
          <a:p>
            <a:pPr lvl="1"/>
            <a:r>
              <a:rPr lang="pt-BR" dirty="0"/>
              <a:t>Limites de velocidade (40 km</a:t>
            </a:r>
            <a:r>
              <a:rPr lang="en-US" dirty="0"/>
              <a:t>/h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Sinalização viária</a:t>
            </a:r>
          </a:p>
          <a:p>
            <a:pPr lvl="1"/>
            <a:r>
              <a:rPr lang="pt-BR" dirty="0"/>
              <a:t>Utilização da luz indicadora de direção (setas)</a:t>
            </a:r>
          </a:p>
          <a:p>
            <a:pPr lvl="1"/>
            <a:r>
              <a:rPr lang="pt-BR" dirty="0"/>
              <a:t>Contabilização de infrações de trânsito</a:t>
            </a:r>
          </a:p>
        </p:txBody>
      </p:sp>
    </p:spTree>
    <p:extLst>
      <p:ext uri="{BB962C8B-B14F-4D97-AF65-F5344CB8AC3E}">
        <p14:creationId xmlns:p14="http://schemas.microsoft.com/office/powerpoint/2010/main" val="235460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A237-EDB5-9260-E637-925E9BB1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A81A3-4CDB-47E8-E7A4-2ABB3F75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875D02-7386-1E48-29AF-EF6746BD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Fases</a:t>
            </a:r>
            <a:r>
              <a:rPr lang="en-US" dirty="0"/>
              <a:t> de </a:t>
            </a:r>
            <a:r>
              <a:rPr lang="en-US" dirty="0" err="1"/>
              <a:t>estacionamento</a:t>
            </a:r>
            <a:endParaRPr lang="en-US" dirty="0"/>
          </a:p>
          <a:p>
            <a:pPr lvl="1"/>
            <a:r>
              <a:rPr lang="en-US" dirty="0" err="1"/>
              <a:t>Veículos</a:t>
            </a:r>
            <a:r>
              <a:rPr lang="en-US" dirty="0"/>
              <a:t> </a:t>
            </a:r>
            <a:r>
              <a:rPr lang="en-US" dirty="0" err="1"/>
              <a:t>estacionados</a:t>
            </a:r>
            <a:r>
              <a:rPr lang="en-US" dirty="0"/>
              <a:t> </a:t>
            </a:r>
            <a:r>
              <a:rPr lang="en-US" dirty="0" err="1"/>
              <a:t>aleatóriamente</a:t>
            </a:r>
            <a:endParaRPr lang="en-US" dirty="0"/>
          </a:p>
          <a:p>
            <a:pPr lvl="1"/>
            <a:r>
              <a:rPr lang="pt-BR" dirty="0"/>
              <a:t>Sorteio da vaga de estacionamento</a:t>
            </a:r>
          </a:p>
          <a:p>
            <a:pPr lvl="1"/>
            <a:r>
              <a:rPr lang="pt-BR" dirty="0"/>
              <a:t>Tipos de vaga</a:t>
            </a:r>
          </a:p>
          <a:p>
            <a:pPr lvl="2"/>
            <a:r>
              <a:rPr lang="pt-BR" dirty="0"/>
              <a:t>Perpendicular (90°)</a:t>
            </a:r>
          </a:p>
          <a:p>
            <a:pPr lvl="2"/>
            <a:r>
              <a:rPr lang="pt-BR" dirty="0"/>
              <a:t>Ângulo (45°)</a:t>
            </a:r>
          </a:p>
          <a:p>
            <a:pPr lvl="2"/>
            <a:r>
              <a:rPr lang="pt-BR" dirty="0"/>
              <a:t>Paralela (baliza)</a:t>
            </a:r>
          </a:p>
        </p:txBody>
      </p:sp>
    </p:spTree>
    <p:extLst>
      <p:ext uri="{BB962C8B-B14F-4D97-AF65-F5344CB8AC3E}">
        <p14:creationId xmlns:p14="http://schemas.microsoft.com/office/powerpoint/2010/main" val="1744056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F3FF-5EE3-B59A-2A3C-E1323082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44324-A71E-1358-9AB3-52F39899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534FD1-AF2A-04D3-38E4-0F589DBF5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Fases</a:t>
            </a:r>
            <a:r>
              <a:rPr lang="en-US" dirty="0"/>
              <a:t> de corrida</a:t>
            </a:r>
          </a:p>
          <a:p>
            <a:pPr lvl="1"/>
            <a:r>
              <a:rPr lang="en-US" dirty="0"/>
              <a:t>Cron</a:t>
            </a:r>
            <a:r>
              <a:rPr lang="pt-BR" dirty="0"/>
              <a:t>ô</a:t>
            </a:r>
            <a:r>
              <a:rPr lang="en-US" dirty="0"/>
              <a:t>metro </a:t>
            </a:r>
            <a:r>
              <a:rPr lang="en-US" dirty="0" err="1"/>
              <a:t>por</a:t>
            </a:r>
            <a:r>
              <a:rPr lang="en-US" dirty="0"/>
              <a:t> volta</a:t>
            </a:r>
          </a:p>
          <a:p>
            <a:pPr lvl="1"/>
            <a:r>
              <a:rPr lang="en-US" dirty="0" err="1"/>
              <a:t>Contabilizador</a:t>
            </a:r>
            <a:r>
              <a:rPr lang="en-US" dirty="0"/>
              <a:t> da </a:t>
            </a:r>
            <a:r>
              <a:rPr lang="en-US" dirty="0" err="1"/>
              <a:t>melhor</a:t>
            </a:r>
            <a:r>
              <a:rPr lang="en-US" dirty="0"/>
              <a:t> volta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610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008F-AA8F-9306-F46C-6A686E41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0F911-B221-1881-598E-10C0A3BD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4CEF2B-F91F-9B7F-02B6-2A2DFA4E1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Unity (6000.0.29f1)</a:t>
            </a:r>
          </a:p>
          <a:p>
            <a:r>
              <a:rPr lang="pt-BR" dirty="0"/>
              <a:t>Unity </a:t>
            </a:r>
            <a:r>
              <a:rPr lang="pt-BR" dirty="0" err="1"/>
              <a:t>Asset</a:t>
            </a:r>
            <a:r>
              <a:rPr lang="pt-BR" dirty="0"/>
              <a:t> Store</a:t>
            </a:r>
          </a:p>
          <a:p>
            <a:r>
              <a:rPr lang="pt-BR" dirty="0"/>
              <a:t>Scripts C#</a:t>
            </a:r>
          </a:p>
          <a:p>
            <a:r>
              <a:rPr lang="pt-BR" dirty="0" err="1"/>
              <a:t>JetBrains</a:t>
            </a:r>
            <a:r>
              <a:rPr lang="pt-BR" dirty="0"/>
              <a:t> Rider (2024.3.2)</a:t>
            </a:r>
          </a:p>
          <a:p>
            <a:r>
              <a:rPr lang="pt-BR" dirty="0"/>
              <a:t>Visual Studio </a:t>
            </a:r>
            <a:r>
              <a:rPr lang="pt-BR" dirty="0" err="1"/>
              <a:t>Code</a:t>
            </a:r>
            <a:r>
              <a:rPr lang="pt-BR" dirty="0"/>
              <a:t> (1.126.0)</a:t>
            </a:r>
          </a:p>
          <a:p>
            <a:r>
              <a:rPr lang="pt-BR" dirty="0"/>
              <a:t>OpenAI Codex (GPT-5.5)</a:t>
            </a:r>
          </a:p>
        </p:txBody>
      </p:sp>
    </p:spTree>
    <p:extLst>
      <p:ext uri="{BB962C8B-B14F-4D97-AF65-F5344CB8AC3E}">
        <p14:creationId xmlns:p14="http://schemas.microsoft.com/office/powerpoint/2010/main" val="873976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0A7CB-820E-7F51-BECD-1D533FA3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DDE37-AB97-A747-1DFB-8E847CC1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2AE6CCF-94CB-774E-32B3-1816F57F9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78255"/>
              </p:ext>
            </p:extLst>
          </p:nvPr>
        </p:nvGraphicFramePr>
        <p:xfrm>
          <a:off x="457200" y="1412875"/>
          <a:ext cx="8251884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4760">
                  <a:extLst>
                    <a:ext uri="{9D8B030D-6E8A-4147-A177-3AD203B41FA5}">
                      <a16:colId xmlns:a16="http://schemas.microsoft.com/office/drawing/2014/main" val="3514356728"/>
                    </a:ext>
                  </a:extLst>
                </a:gridCol>
                <a:gridCol w="4497124">
                  <a:extLst>
                    <a:ext uri="{9D8B030D-6E8A-4147-A177-3AD203B41FA5}">
                      <a16:colId xmlns:a16="http://schemas.microsoft.com/office/drawing/2014/main" val="30548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Utilizado para [...]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Stylized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Hypercars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modelos de veículos.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7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Low Poly Vehicle1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modelos de veículos.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5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 Poly Vehicle2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modelos de veículos.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44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Logitech Gaming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integrar o volante Logitech G29.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North American Speed 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sinalização viária.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1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Rain 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implementar o efeito de chuva.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829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Citizens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pedestres nos ambientes urbanos.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0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Poly City - Low Poly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cenários de trânsito urbano.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9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Racer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cenários de corrida.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48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Simple 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céu e os ciclos de dia e noite.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9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Simple 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os cenários de estacionamento.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93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421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6C96-12A8-B671-DD4E-343F0DA3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8DBAB-9100-DF61-5500-F35369C7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C91724-CA4C-30FD-55FE-1EB84527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Pedestres</a:t>
            </a:r>
          </a:p>
          <a:p>
            <a:pPr lvl="1"/>
            <a:r>
              <a:rPr lang="pt-BR" dirty="0" err="1"/>
              <a:t>NavMesh</a:t>
            </a:r>
            <a:r>
              <a:rPr lang="en-US" dirty="0"/>
              <a:t>: Surface, Agent e Modifier</a:t>
            </a:r>
          </a:p>
          <a:p>
            <a:pPr lvl="1"/>
            <a:r>
              <a:rPr lang="en-US" dirty="0"/>
              <a:t>Animator</a:t>
            </a:r>
          </a:p>
          <a:p>
            <a:r>
              <a:rPr lang="pt-BR" dirty="0" err="1"/>
              <a:t>Semaforo</a:t>
            </a:r>
            <a:endParaRPr lang="pt-BR" dirty="0"/>
          </a:p>
          <a:p>
            <a:pPr lvl="1"/>
            <a:r>
              <a:rPr lang="pt-BR" dirty="0" err="1"/>
              <a:t>Coroutine</a:t>
            </a:r>
            <a:endParaRPr lang="pt-BR" dirty="0"/>
          </a:p>
          <a:p>
            <a:r>
              <a:rPr lang="pt-BR" dirty="0"/>
              <a:t>Funções</a:t>
            </a:r>
          </a:p>
          <a:p>
            <a:pPr lvl="1"/>
            <a:r>
              <a:rPr lang="pt-BR" dirty="0" err="1"/>
              <a:t>OnTriggerEnter</a:t>
            </a:r>
            <a:endParaRPr lang="pt-BR" dirty="0"/>
          </a:p>
          <a:p>
            <a:pPr lvl="1"/>
            <a:r>
              <a:rPr lang="pt-BR" dirty="0" err="1"/>
              <a:t>OnTriggerExit</a:t>
            </a:r>
            <a:endParaRPr lang="pt-BR" dirty="0"/>
          </a:p>
          <a:p>
            <a:r>
              <a:rPr lang="pt-BR" dirty="0" err="1"/>
              <a:t>Colliders</a:t>
            </a:r>
            <a:endParaRPr lang="pt-BR" dirty="0"/>
          </a:p>
          <a:p>
            <a:pPr lvl="1"/>
            <a:r>
              <a:rPr lang="pt-BR" dirty="0" err="1"/>
              <a:t>BoxCollider</a:t>
            </a:r>
            <a:endParaRPr lang="pt-BR" dirty="0"/>
          </a:p>
          <a:p>
            <a:pPr lvl="1"/>
            <a:r>
              <a:rPr lang="pt-BR" dirty="0" err="1"/>
              <a:t>MeshCollider</a:t>
            </a:r>
            <a:endParaRPr lang="pt-BR" dirty="0"/>
          </a:p>
          <a:p>
            <a:pPr lvl="1"/>
            <a:r>
              <a:rPr lang="pt-BR" dirty="0" err="1"/>
              <a:t>WheelCollider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0757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D4DE-8E1B-E0D1-9D85-6163291C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83B28-A4CD-8F66-AA80-7F25521E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49D990-B75D-3F80-5C19-8A6C31FF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Logitech G HUB</a:t>
            </a:r>
          </a:p>
          <a:p>
            <a:r>
              <a:rPr lang="pt-BR" dirty="0"/>
              <a:t>Logitech </a:t>
            </a:r>
            <a:r>
              <a:rPr lang="pt-BR" dirty="0" err="1"/>
              <a:t>Gaming</a:t>
            </a:r>
            <a:r>
              <a:rPr lang="pt-BR" dirty="0"/>
              <a:t> SDK</a:t>
            </a:r>
          </a:p>
          <a:p>
            <a:pPr lvl="1"/>
            <a:r>
              <a:rPr lang="pt-BR" dirty="0"/>
              <a:t>Erro de DLL</a:t>
            </a:r>
          </a:p>
          <a:p>
            <a:pPr lvl="1"/>
            <a:r>
              <a:rPr lang="pt-BR" dirty="0"/>
              <a:t>Maximilian </a:t>
            </a:r>
            <a:r>
              <a:rPr lang="pt-BR" dirty="0" err="1"/>
              <a:t>Senten</a:t>
            </a:r>
            <a:r>
              <a:rPr lang="pt-BR" dirty="0"/>
              <a:t> (2025)</a:t>
            </a:r>
          </a:p>
          <a:p>
            <a:r>
              <a:rPr lang="pt-BR" dirty="0"/>
              <a:t>Normalização de dados</a:t>
            </a:r>
          </a:p>
          <a:p>
            <a:pPr lvl="1"/>
            <a:r>
              <a:rPr lang="pt-BR" dirty="0"/>
              <a:t>De -32.768 a 32.767 para -1 a 1 e 0 a 1</a:t>
            </a:r>
          </a:p>
        </p:txBody>
      </p:sp>
    </p:spTree>
    <p:extLst>
      <p:ext uri="{BB962C8B-B14F-4D97-AF65-F5344CB8AC3E}">
        <p14:creationId xmlns:p14="http://schemas.microsoft.com/office/powerpoint/2010/main" val="1482286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AA71-1D50-1641-9FF1-556D79FA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2D1B4-112E-D85C-A0CE-BBEC9E03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9B38A5-6BCA-AEF3-F027-71A8E05B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Logitech </a:t>
            </a:r>
            <a:r>
              <a:rPr lang="pt-BR" dirty="0" err="1"/>
              <a:t>Gaming</a:t>
            </a:r>
            <a:r>
              <a:rPr lang="pt-BR" dirty="0"/>
              <a:t> SDK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E0ADD34-38BB-E1DC-0E4E-D261F9E8E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4965724"/>
              </p:ext>
            </p:extLst>
          </p:nvPr>
        </p:nvGraphicFramePr>
        <p:xfrm>
          <a:off x="457200" y="2301184"/>
          <a:ext cx="82518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608">
                  <a:extLst>
                    <a:ext uri="{9D8B030D-6E8A-4147-A177-3AD203B41FA5}">
                      <a16:colId xmlns:a16="http://schemas.microsoft.com/office/drawing/2014/main" val="3514356728"/>
                    </a:ext>
                  </a:extLst>
                </a:gridCol>
                <a:gridCol w="5865276">
                  <a:extLst>
                    <a:ext uri="{9D8B030D-6E8A-4147-A177-3AD203B41FA5}">
                      <a16:colId xmlns:a16="http://schemas.microsoft.com/office/drawing/2014/main" val="30548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Recurso do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Efeito de [...]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6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Spring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travamento do volante.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7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Damper</a:t>
                      </a:r>
                      <a:r>
                        <a:rPr lang="pt-BR" dirty="0"/>
                        <a:t>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direção elétrica.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15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Dirt</a:t>
                      </a:r>
                      <a:r>
                        <a:rPr lang="pt-BR" dirty="0"/>
                        <a:t> Road </a:t>
                      </a:r>
                      <a:r>
                        <a:rPr lang="pt-BR" dirty="0" err="1"/>
                        <a:t>Effect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estrada de barro.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44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Slippery</a:t>
                      </a:r>
                      <a:r>
                        <a:rPr lang="pt-BR" dirty="0"/>
                        <a:t> Road </a:t>
                      </a:r>
                      <a:r>
                        <a:rPr lang="pt-BR" dirty="0" err="1"/>
                        <a:t>Effect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estrada escorregadia.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5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722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670F-62DA-B3D0-5E8D-2CB35A42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C2067-5E08-85FC-2B40-3A84C5AD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0C25CC-73BB-1D03-DE13-4DF8B6FD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Carro</a:t>
            </a:r>
          </a:p>
          <a:p>
            <a:pPr lvl="1"/>
            <a:r>
              <a:rPr lang="pt-BR" dirty="0" err="1"/>
              <a:t>WheelColliders</a:t>
            </a:r>
            <a:endParaRPr lang="pt-BR" dirty="0"/>
          </a:p>
          <a:p>
            <a:pPr lvl="2"/>
            <a:r>
              <a:rPr lang="pt-BR" dirty="0"/>
              <a:t>Ângulo</a:t>
            </a:r>
          </a:p>
          <a:p>
            <a:pPr lvl="3"/>
            <a:r>
              <a:rPr lang="pt-BR" dirty="0" err="1"/>
              <a:t>SteerAngle</a:t>
            </a:r>
            <a:endParaRPr lang="pt-BR" dirty="0"/>
          </a:p>
          <a:p>
            <a:pPr lvl="2"/>
            <a:r>
              <a:rPr lang="pt-BR" dirty="0"/>
              <a:t>Aceleração</a:t>
            </a:r>
          </a:p>
          <a:p>
            <a:pPr lvl="3"/>
            <a:r>
              <a:rPr lang="pt-BR" dirty="0" err="1"/>
              <a:t>MotorTorque</a:t>
            </a:r>
            <a:endParaRPr lang="pt-BR" dirty="0"/>
          </a:p>
          <a:p>
            <a:pPr lvl="2"/>
            <a:r>
              <a:rPr lang="pt-BR" dirty="0"/>
              <a:t>Freio</a:t>
            </a:r>
          </a:p>
          <a:p>
            <a:pPr lvl="3"/>
            <a:r>
              <a:rPr lang="pt-BR" dirty="0" err="1"/>
              <a:t>BrakeTorque</a:t>
            </a:r>
            <a:endParaRPr lang="pt-BR" dirty="0"/>
          </a:p>
          <a:p>
            <a:pPr lvl="2"/>
            <a:r>
              <a:rPr lang="pt-BR" dirty="0"/>
              <a:t>Derrapagem</a:t>
            </a:r>
          </a:p>
          <a:p>
            <a:pPr lvl="3"/>
            <a:r>
              <a:rPr lang="pt-BR" dirty="0" err="1"/>
              <a:t>Stiffness</a:t>
            </a:r>
            <a:r>
              <a:rPr lang="pt-BR" dirty="0"/>
              <a:t> </a:t>
            </a:r>
          </a:p>
          <a:p>
            <a:pPr lvl="3"/>
            <a:r>
              <a:rPr lang="pt-BR" dirty="0" err="1"/>
              <a:t>SidewaysFriction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7143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0708-BF37-AABC-D38E-53909CC2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A5EA9-DCBE-13D4-5105-9C5E67EA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28E8C-AAE2-1866-10A5-6D5C45CB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Carro</a:t>
            </a:r>
          </a:p>
          <a:p>
            <a:pPr lvl="1"/>
            <a:r>
              <a:rPr lang="pt-BR" dirty="0"/>
              <a:t>Geometria de</a:t>
            </a:r>
          </a:p>
          <a:p>
            <a:pPr marL="457200" lvl="1" indent="0">
              <a:buNone/>
            </a:pPr>
            <a:r>
              <a:rPr lang="pt-BR" dirty="0"/>
              <a:t>Ackermann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B580DB-1147-A432-4B0A-C29809DFC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278210"/>
            <a:ext cx="5156200" cy="5391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9359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Testes com </a:t>
            </a:r>
            <a:r>
              <a:rPr lang="en-US" dirty="0" err="1"/>
              <a:t>usuários</a:t>
            </a:r>
            <a:endParaRPr lang="en-US" dirty="0"/>
          </a:p>
          <a:p>
            <a:r>
              <a:rPr lang="en-US" dirty="0"/>
              <a:t>Pesquisa via Google Forms</a:t>
            </a:r>
          </a:p>
          <a:p>
            <a:pPr lvl="1"/>
            <a:r>
              <a:rPr lang="pt-BR" dirty="0"/>
              <a:t>22 perguntas</a:t>
            </a:r>
          </a:p>
          <a:p>
            <a:pPr lvl="2"/>
            <a:r>
              <a:rPr lang="pt-BR" dirty="0"/>
              <a:t>21 objetivas</a:t>
            </a:r>
          </a:p>
          <a:p>
            <a:pPr lvl="2"/>
            <a:r>
              <a:rPr lang="pt-BR" dirty="0"/>
              <a:t>1 descritiva</a:t>
            </a:r>
          </a:p>
          <a:p>
            <a:pPr lvl="1"/>
            <a:r>
              <a:rPr lang="pt-BR" dirty="0"/>
              <a:t>Análise do perfil dos participantes</a:t>
            </a:r>
          </a:p>
          <a:p>
            <a:pPr lvl="1"/>
            <a:r>
              <a:rPr lang="pt-BR" dirty="0"/>
              <a:t>Experiência no simulador</a:t>
            </a:r>
          </a:p>
          <a:p>
            <a:r>
              <a:rPr lang="pt-BR" dirty="0"/>
              <a:t>Aprendizagem ativa de habilidades motoras </a:t>
            </a:r>
          </a:p>
        </p:txBody>
      </p:sp>
    </p:spTree>
    <p:extLst>
      <p:ext uri="{BB962C8B-B14F-4D97-AF65-F5344CB8AC3E}">
        <p14:creationId xmlns:p14="http://schemas.microsoft.com/office/powerpoint/2010/main" val="3487219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BED3-F474-D4EC-FAB1-FCB97ACB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852EF-1C20-CAE0-6D7A-BDEA2E487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F7DBC-EEFC-3C18-0D39-27A16304A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Você considera que o simulador contribui para o treinamento de condução e </a:t>
            </a:r>
            <a:r>
              <a:rPr lang="pt-BR" dirty="0" err="1"/>
              <a:t>manobragem</a:t>
            </a:r>
            <a:r>
              <a:rPr lang="pt-BR" dirty="0"/>
              <a:t> de veículos?</a:t>
            </a:r>
          </a:p>
          <a:p>
            <a:endParaRPr lang="pt-BR" dirty="0"/>
          </a:p>
          <a:p>
            <a:r>
              <a:rPr lang="pt-BR" dirty="0"/>
              <a:t>Não contribui - 0%</a:t>
            </a:r>
          </a:p>
          <a:p>
            <a:r>
              <a:rPr lang="pt-BR" dirty="0"/>
              <a:t>Contribui muito pouco - 6,7%</a:t>
            </a:r>
          </a:p>
          <a:p>
            <a:r>
              <a:rPr lang="pt-BR" dirty="0"/>
              <a:t>Contribui moderadamente - 13,3%</a:t>
            </a:r>
          </a:p>
          <a:p>
            <a:r>
              <a:rPr lang="pt-BR" dirty="0"/>
              <a:t>Contribui bastante - 40%</a:t>
            </a:r>
          </a:p>
          <a:p>
            <a:r>
              <a:rPr lang="pt-BR" dirty="0"/>
              <a:t>Contribui de forma muito significativa - 40%</a:t>
            </a:r>
          </a:p>
        </p:txBody>
      </p:sp>
    </p:spTree>
    <p:extLst>
      <p:ext uri="{BB962C8B-B14F-4D97-AF65-F5344CB8AC3E}">
        <p14:creationId xmlns:p14="http://schemas.microsoft.com/office/powerpoint/2010/main" val="1522007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7B79-6439-5BD2-7897-543AAAFD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CB4C0-AD20-D088-C003-B4CCACE7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35E40-E794-24C3-50F9-5C488FBC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Comparação com trabalhos correlatos:</a:t>
            </a:r>
          </a:p>
          <a:p>
            <a:pPr lvl="1"/>
            <a:r>
              <a:rPr lang="pt-BR" dirty="0"/>
              <a:t>Maior variedade de ambientes</a:t>
            </a:r>
          </a:p>
          <a:p>
            <a:pPr lvl="1"/>
            <a:r>
              <a:rPr lang="pt-BR" dirty="0"/>
              <a:t>Ausência de óculos de Realidade Virtual</a:t>
            </a:r>
          </a:p>
          <a:p>
            <a:pPr lvl="1"/>
            <a:r>
              <a:rPr lang="pt-BR" dirty="0"/>
              <a:t>Limitação de periféricos e feedbacks táteis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399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 e Sugestões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Experiência de condução</a:t>
            </a:r>
          </a:p>
          <a:p>
            <a:r>
              <a:rPr lang="pt-BR" dirty="0"/>
              <a:t>Realismo da dirigibilidade e a responsividade</a:t>
            </a:r>
          </a:p>
          <a:p>
            <a:r>
              <a:rPr lang="pt-BR" dirty="0"/>
              <a:t>Capacidade de gerar aprendizado prático de direção</a:t>
            </a:r>
          </a:p>
          <a:p>
            <a:r>
              <a:rPr lang="pt-BR" dirty="0"/>
              <a:t>Feedbacks táteis</a:t>
            </a:r>
          </a:p>
        </p:txBody>
      </p:sp>
    </p:spTree>
    <p:extLst>
      <p:ext uri="{BB962C8B-B14F-4D97-AF65-F5344CB8AC3E}">
        <p14:creationId xmlns:p14="http://schemas.microsoft.com/office/powerpoint/2010/main" val="2793539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351F-DA93-0C1C-9EAC-2A743BB2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AF662-EFCC-12FC-69A8-7C0CAD7A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 e Sugestões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C2746-37E6-CA12-8776-6D820EA1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Sugestões:</a:t>
            </a:r>
          </a:p>
          <a:p>
            <a:pPr lvl="1"/>
            <a:r>
              <a:rPr lang="pt-BR" dirty="0"/>
              <a:t>Fidelidade dos ambientes 3D em RV</a:t>
            </a:r>
          </a:p>
          <a:p>
            <a:pPr lvl="1"/>
            <a:r>
              <a:rPr lang="pt-BR" dirty="0"/>
              <a:t>Jogabilidade do carro mais próxima do real, espelhos retrovisores laterais, pisca-alerta e feedbacks sonoros como motor e buzina</a:t>
            </a:r>
            <a:endParaRPr lang="en-US" dirty="0"/>
          </a:p>
          <a:p>
            <a:pPr lvl="1"/>
            <a:r>
              <a:rPr lang="pt-BR" dirty="0"/>
              <a:t>Rotatórias, mudanças de faixa e sinalizações diversas</a:t>
            </a:r>
          </a:p>
          <a:p>
            <a:pPr lvl="1"/>
            <a:r>
              <a:rPr lang="pt-BR" dirty="0"/>
              <a:t>Suporte para RV imersiva com óculos de RV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28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2004-A6AB-4BA7-869A-90D31424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45B70-776F-FD07-4820-AB6DF5FC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pt-BR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72710630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1235</Words>
  <Application>Microsoft Office PowerPoint</Application>
  <PresentationFormat>Apresentação na tela (4:3)</PresentationFormat>
  <Paragraphs>274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4" baseType="lpstr">
      <vt:lpstr>Arial</vt:lpstr>
      <vt:lpstr>Times New Roman</vt:lpstr>
      <vt:lpstr>Design padrão</vt:lpstr>
      <vt:lpstr>JOGO SIMULADOR DE DIREÇÃO VEICULAR EM REALIDADE VIRTUAL COM CONTROLE POR VOLANTE</vt:lpstr>
      <vt:lpstr>Roteiro</vt:lpstr>
      <vt:lpstr>Introdução</vt:lpstr>
      <vt:lpstr>Objetivos</vt:lpstr>
      <vt:lpstr>Objetivos</vt:lpstr>
      <vt:lpstr>Fundamentação Teórica</vt:lpstr>
      <vt:lpstr>Trabalhos Correlatos</vt:lpstr>
      <vt:lpstr>Trabalhos Correlatos</vt:lpstr>
      <vt:lpstr>Trabalhos Correlatos</vt:lpstr>
      <vt:lpstr>Requisitos</vt:lpstr>
      <vt:lpstr>Requisitos</vt:lpstr>
      <vt:lpstr>Requisitos</vt:lpstr>
      <vt:lpstr>Especificação</vt:lpstr>
      <vt:lpstr>Especificação</vt:lpstr>
      <vt:lpstr>Especificação</vt:lpstr>
      <vt:lpstr>Especificação</vt:lpstr>
      <vt:lpstr>Especificação</vt:lpstr>
      <vt:lpstr>Especificação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Análise dos Resultados</vt:lpstr>
      <vt:lpstr>Análise dos Resultados</vt:lpstr>
      <vt:lpstr>Análise dos Resultados</vt:lpstr>
      <vt:lpstr>Conclusões e Sugestões</vt:lpstr>
      <vt:lpstr>Conclusões e Sugestões</vt:lpstr>
      <vt:lpstr>Obrigado</vt:lpstr>
    </vt:vector>
  </TitlesOfParts>
  <Company>FURB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Seção de Apoio ao Usuário</dc:creator>
  <cp:lastModifiedBy>Gustavo Baroni Bruder</cp:lastModifiedBy>
  <cp:revision>245</cp:revision>
  <dcterms:created xsi:type="dcterms:W3CDTF">2012-05-08T00:10:24Z</dcterms:created>
  <dcterms:modified xsi:type="dcterms:W3CDTF">2026-06-30T22:17:29Z</dcterms:modified>
</cp:coreProperties>
</file>